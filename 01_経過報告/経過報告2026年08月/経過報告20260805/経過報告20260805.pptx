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35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古賀 玲次" userId="d2163e72-4ab4-4222-a3af-dcf152636f21" providerId="ADAL" clId="{4CED5798-B995-4604-96BA-7E646074EB82}"/>
    <pc:docChg chg="undo custSel delSld modSld">
      <pc:chgData name="古賀 玲次" userId="d2163e72-4ab4-4222-a3af-dcf152636f21" providerId="ADAL" clId="{4CED5798-B995-4604-96BA-7E646074EB82}" dt="2026-08-26T07:55:07.601" v="86" actId="47"/>
      <pc:docMkLst>
        <pc:docMk/>
      </pc:docMkLst>
      <pc:sldChg chg="delSp modSp del mod">
        <pc:chgData name="古賀 玲次" userId="d2163e72-4ab4-4222-a3af-dcf152636f21" providerId="ADAL" clId="{4CED5798-B995-4604-96BA-7E646074EB82}" dt="2026-08-26T07:55:07.601" v="86" actId="47"/>
        <pc:sldMkLst>
          <pc:docMk/>
          <pc:sldMk cId="0" sldId="256"/>
        </pc:sldMkLst>
        <pc:spChg chg="mod">
          <ac:chgData name="古賀 玲次" userId="d2163e72-4ab4-4222-a3af-dcf152636f21" providerId="ADAL" clId="{4CED5798-B995-4604-96BA-7E646074EB82}" dt="2026-08-05T07:05:32.732" v="36" actId="1076"/>
          <ac:spMkLst>
            <pc:docMk/>
            <pc:sldMk cId="0" sldId="256"/>
            <ac:spMk id="4" creationId="{00000000-0000-0000-0000-000000000000}"/>
          </ac:spMkLst>
        </pc:spChg>
        <pc:spChg chg="mod">
          <ac:chgData name="古賀 玲次" userId="d2163e72-4ab4-4222-a3af-dcf152636f21" providerId="ADAL" clId="{4CED5798-B995-4604-96BA-7E646074EB82}" dt="2026-08-05T07:05:15.310" v="34"/>
          <ac:spMkLst>
            <pc:docMk/>
            <pc:sldMk cId="0" sldId="256"/>
            <ac:spMk id="7" creationId="{00000000-0000-0000-0000-000000000000}"/>
          </ac:spMkLst>
        </pc:spChg>
      </pc:sldChg>
      <pc:sldChg chg="delSp modSp mod">
        <pc:chgData name="古賀 玲次" userId="d2163e72-4ab4-4222-a3af-dcf152636f21" providerId="ADAL" clId="{4CED5798-B995-4604-96BA-7E646074EB82}" dt="2026-08-05T07:06:10.609" v="65"/>
        <pc:sldMkLst>
          <pc:docMk/>
          <pc:sldMk cId="0" sldId="257"/>
        </pc:sldMkLst>
        <pc:spChg chg="mod">
          <ac:chgData name="古賀 玲次" userId="d2163e72-4ab4-4222-a3af-dcf152636f21" providerId="ADAL" clId="{4CED5798-B995-4604-96BA-7E646074EB82}" dt="2026-08-05T07:05:50.678" v="46" actId="20577"/>
          <ac:spMkLst>
            <pc:docMk/>
            <pc:sldMk cId="0" sldId="257"/>
            <ac:spMk id="9" creationId="{00000000-0000-0000-0000-000000000000}"/>
          </ac:spMkLst>
        </pc:spChg>
        <pc:spChg chg="mod">
          <ac:chgData name="古賀 玲次" userId="d2163e72-4ab4-4222-a3af-dcf152636f21" providerId="ADAL" clId="{4CED5798-B995-4604-96BA-7E646074EB82}" dt="2026-08-05T07:05:57.401" v="56"/>
          <ac:spMkLst>
            <pc:docMk/>
            <pc:sldMk cId="0" sldId="257"/>
            <ac:spMk id="14" creationId="{00000000-0000-0000-0000-000000000000}"/>
          </ac:spMkLst>
        </pc:spChg>
        <pc:spChg chg="mod">
          <ac:chgData name="古賀 玲次" userId="d2163e72-4ab4-4222-a3af-dcf152636f21" providerId="ADAL" clId="{4CED5798-B995-4604-96BA-7E646074EB82}" dt="2026-08-05T07:06:02.170" v="63" actId="20577"/>
          <ac:spMkLst>
            <pc:docMk/>
            <pc:sldMk cId="0" sldId="257"/>
            <ac:spMk id="19" creationId="{00000000-0000-0000-0000-000000000000}"/>
          </ac:spMkLst>
        </pc:spChg>
      </pc:sldChg>
      <pc:sldChg chg="modSp mod">
        <pc:chgData name="古賀 玲次" userId="d2163e72-4ab4-4222-a3af-dcf152636f21" providerId="ADAL" clId="{4CED5798-B995-4604-96BA-7E646074EB82}" dt="2026-08-05T07:06:19.068" v="66" actId="20577"/>
        <pc:sldMkLst>
          <pc:docMk/>
          <pc:sldMk cId="0" sldId="258"/>
        </pc:sldMkLst>
        <pc:spChg chg="mod">
          <ac:chgData name="古賀 玲次" userId="d2163e72-4ab4-4222-a3af-dcf152636f21" providerId="ADAL" clId="{4CED5798-B995-4604-96BA-7E646074EB82}" dt="2026-08-05T07:06:19.068" v="66" actId="20577"/>
          <ac:spMkLst>
            <pc:docMk/>
            <pc:sldMk cId="0" sldId="258"/>
            <ac:spMk id="7" creationId="{00000000-0000-0000-0000-000000000000}"/>
          </ac:spMkLst>
        </pc:spChg>
      </pc:sldChg>
      <pc:sldChg chg="del">
        <pc:chgData name="古賀 玲次" userId="d2163e72-4ab4-4222-a3af-dcf152636f21" providerId="ADAL" clId="{4CED5798-B995-4604-96BA-7E646074EB82}" dt="2026-08-26T07:54:22.979" v="84" actId="47"/>
        <pc:sldMkLst>
          <pc:docMk/>
          <pc:sldMk cId="0" sldId="270"/>
        </pc:sldMkLst>
      </pc:sldChg>
      <pc:sldChg chg="addSp delSp modSp del mod">
        <pc:chgData name="古賀 玲次" userId="d2163e72-4ab4-4222-a3af-dcf152636f21" providerId="ADAL" clId="{4CED5798-B995-4604-96BA-7E646074EB82}" dt="2026-08-26T07:54:33.578" v="85" actId="47"/>
        <pc:sldMkLst>
          <pc:docMk/>
          <pc:sldMk cId="0" sldId="271"/>
        </pc:sldMkLst>
        <pc:spChg chg="mod">
          <ac:chgData name="古賀 玲次" userId="d2163e72-4ab4-4222-a3af-dcf152636f21" providerId="ADAL" clId="{4CED5798-B995-4604-96BA-7E646074EB82}" dt="2026-08-05T07:08:24.955" v="81" actId="13926"/>
          <ac:spMkLst>
            <pc:docMk/>
            <pc:sldMk cId="0" sldId="271"/>
            <ac:spMk id="3" creationId="{00000000-0000-0000-0000-000000000000}"/>
          </ac:spMkLst>
        </pc:spChg>
        <pc:spChg chg="add mod ord">
          <ac:chgData name="古賀 玲次" userId="d2163e72-4ab4-4222-a3af-dcf152636f21" providerId="ADAL" clId="{4CED5798-B995-4604-96BA-7E646074EB82}" dt="2026-08-05T07:07:38.962" v="77" actId="14100"/>
          <ac:spMkLst>
            <pc:docMk/>
            <pc:sldMk cId="0" sldId="271"/>
            <ac:spMk id="8" creationId="{2A1681C4-A5D0-13DF-BEC2-1C5D942353E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全体のまとめ</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研究は3つの段階に分けて進めており、すべて完了した</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0000" y="1044000"/>
            <a:ext cx="3708000" cy="306000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0000" y="1044000"/>
            <a:ext cx="3708000" cy="50399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2000" y="1080000"/>
            <a:ext cx="3564000" cy="338554"/>
          </a:xfrm>
          <a:prstGeom prst="rect">
            <a:avLst/>
          </a:prstGeom>
          <a:noFill/>
        </p:spPr>
        <p:txBody>
          <a:bodyPr wrap="square">
            <a:spAutoFit/>
          </a:bodyPr>
          <a:lstStyle/>
          <a:p>
            <a:pPr algn="ctr"/>
            <a:r>
              <a:rPr lang="en-US" sz="1600" b="1" dirty="0">
                <a:solidFill>
                  <a:srgbClr val="FFFFFF"/>
                </a:solidFill>
                <a:latin typeface="游ゴシック"/>
              </a:rPr>
              <a:t>phase</a:t>
            </a:r>
            <a:r>
              <a:rPr sz="1600" b="1" dirty="0">
                <a:solidFill>
                  <a:srgbClr val="FFFFFF"/>
                </a:solidFill>
                <a:latin typeface="游ゴシック"/>
              </a:rPr>
              <a:t>1</a:t>
            </a:r>
          </a:p>
        </p:txBody>
      </p:sp>
      <p:sp>
        <p:nvSpPr>
          <p:cNvPr id="10" name="TextBox 9"/>
          <p:cNvSpPr txBox="1"/>
          <p:nvPr/>
        </p:nvSpPr>
        <p:spPr>
          <a:xfrm>
            <a:off x="468000" y="1655999"/>
            <a:ext cx="3491999" cy="1368000"/>
          </a:xfrm>
          <a:prstGeom prst="rect">
            <a:avLst/>
          </a:prstGeom>
          <a:noFill/>
        </p:spPr>
        <p:txBody>
          <a:bodyPr wrap="square">
            <a:spAutoFit/>
          </a:bodyPr>
          <a:lstStyle/>
          <a:p>
            <a:pPr algn="ctr"/>
            <a:r>
              <a:rPr sz="1300" b="0">
                <a:solidFill>
                  <a:srgbClr val="1E293B"/>
                </a:solidFill>
                <a:latin typeface="游ゴシック"/>
              </a:rPr>
              <a:t>浸水で通れなくなる道を除いたうえで、</a:t>
            </a:r>
          </a:p>
          <a:p>
            <a:pPr algn="ctr"/>
            <a:r>
              <a:rPr sz="1300" b="0">
                <a:solidFill>
                  <a:srgbClr val="1E293B"/>
                </a:solidFill>
                <a:latin typeface="游ゴシック"/>
              </a:rPr>
              <a:t>避難所まで行ける道があるかを机上で確認</a:t>
            </a:r>
          </a:p>
        </p:txBody>
      </p:sp>
      <p:sp>
        <p:nvSpPr>
          <p:cNvPr id="11" name="TextBox 10"/>
          <p:cNvSpPr txBox="1"/>
          <p:nvPr/>
        </p:nvSpPr>
        <p:spPr>
          <a:xfrm>
            <a:off x="468000" y="3096000"/>
            <a:ext cx="3491999" cy="864000"/>
          </a:xfrm>
          <a:prstGeom prst="rect">
            <a:avLst/>
          </a:prstGeom>
          <a:noFill/>
        </p:spPr>
        <p:txBody>
          <a:bodyPr wrap="square">
            <a:spAutoFit/>
          </a:bodyPr>
          <a:lstStyle/>
          <a:p>
            <a:pPr algn="ctr"/>
            <a:r>
              <a:rPr sz="1400" b="1">
                <a:solidFill>
                  <a:srgbClr val="16A34A"/>
                </a:solidFill>
                <a:latin typeface="游ゴシック"/>
              </a:rPr>
              <a:t>完了</a:t>
            </a:r>
          </a:p>
        </p:txBody>
      </p:sp>
      <p:sp>
        <p:nvSpPr>
          <p:cNvPr id="12" name="Rectangle 11"/>
          <p:cNvSpPr/>
          <p:nvPr/>
        </p:nvSpPr>
        <p:spPr>
          <a:xfrm>
            <a:off x="4284000" y="1044000"/>
            <a:ext cx="3708000" cy="3060000"/>
          </a:xfrm>
          <a:prstGeom prst="rect">
            <a:avLst/>
          </a:prstGeom>
          <a:solidFill>
            <a:srgbClr val="FFFFFF"/>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84000" y="1044000"/>
            <a:ext cx="3708000" cy="503999"/>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56000" y="1080000"/>
            <a:ext cx="3564000" cy="338554"/>
          </a:xfrm>
          <a:prstGeom prst="rect">
            <a:avLst/>
          </a:prstGeom>
          <a:noFill/>
        </p:spPr>
        <p:txBody>
          <a:bodyPr wrap="square">
            <a:spAutoFit/>
          </a:bodyPr>
          <a:lstStyle/>
          <a:p>
            <a:pPr algn="ctr"/>
            <a:r>
              <a:rPr lang="en-US" altLang="ja-JP" sz="1600" b="1" dirty="0">
                <a:solidFill>
                  <a:srgbClr val="FFFFFF"/>
                </a:solidFill>
                <a:latin typeface="游ゴシック"/>
              </a:rPr>
              <a:t>phase</a:t>
            </a:r>
            <a:r>
              <a:rPr sz="1600" b="1" dirty="0">
                <a:solidFill>
                  <a:srgbClr val="FFFFFF"/>
                </a:solidFill>
                <a:latin typeface="游ゴシック"/>
              </a:rPr>
              <a:t>2</a:t>
            </a:r>
          </a:p>
        </p:txBody>
      </p:sp>
      <p:sp>
        <p:nvSpPr>
          <p:cNvPr id="15" name="TextBox 14"/>
          <p:cNvSpPr txBox="1"/>
          <p:nvPr/>
        </p:nvSpPr>
        <p:spPr>
          <a:xfrm>
            <a:off x="4392000" y="1655999"/>
            <a:ext cx="3491999" cy="1368000"/>
          </a:xfrm>
          <a:prstGeom prst="rect">
            <a:avLst/>
          </a:prstGeom>
          <a:noFill/>
        </p:spPr>
        <p:txBody>
          <a:bodyPr wrap="square">
            <a:spAutoFit/>
          </a:bodyPr>
          <a:lstStyle/>
          <a:p>
            <a:pPr algn="ctr"/>
            <a:r>
              <a:rPr sz="1300" b="0">
                <a:solidFill>
                  <a:srgbClr val="1E293B"/>
                </a:solidFill>
                <a:latin typeface="游ゴシック"/>
              </a:rPr>
              <a:t>実際に大量の車を動かして、</a:t>
            </a:r>
          </a:p>
          <a:p>
            <a:pPr algn="ctr"/>
            <a:r>
              <a:rPr sz="1300" b="0">
                <a:solidFill>
                  <a:srgbClr val="1E293B"/>
                </a:solidFill>
                <a:latin typeface="游ゴシック"/>
              </a:rPr>
              <a:t>渋滞や到着の様子をシミュレーションで確認</a:t>
            </a:r>
          </a:p>
        </p:txBody>
      </p:sp>
      <p:sp>
        <p:nvSpPr>
          <p:cNvPr id="16" name="TextBox 15"/>
          <p:cNvSpPr txBox="1"/>
          <p:nvPr/>
        </p:nvSpPr>
        <p:spPr>
          <a:xfrm>
            <a:off x="4392000" y="3096000"/>
            <a:ext cx="3491999" cy="864000"/>
          </a:xfrm>
          <a:prstGeom prst="rect">
            <a:avLst/>
          </a:prstGeom>
          <a:noFill/>
        </p:spPr>
        <p:txBody>
          <a:bodyPr wrap="square">
            <a:spAutoFit/>
          </a:bodyPr>
          <a:lstStyle/>
          <a:p>
            <a:pPr algn="ctr"/>
            <a:r>
              <a:rPr sz="1400" b="1">
                <a:solidFill>
                  <a:srgbClr val="16A34A"/>
                </a:solidFill>
                <a:latin typeface="游ゴシック"/>
              </a:rPr>
              <a:t>完了</a:t>
            </a:r>
          </a:p>
        </p:txBody>
      </p:sp>
      <p:sp>
        <p:nvSpPr>
          <p:cNvPr id="17" name="Rectangle 16"/>
          <p:cNvSpPr/>
          <p:nvPr/>
        </p:nvSpPr>
        <p:spPr>
          <a:xfrm>
            <a:off x="8208000" y="1044000"/>
            <a:ext cx="3708000" cy="3060000"/>
          </a:xfrm>
          <a:prstGeom prst="rect">
            <a:avLst/>
          </a:prstGeom>
          <a:solidFill>
            <a:srgbClr val="FFFFFF"/>
          </a:solidFill>
          <a:ln w="254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08000" y="1044000"/>
            <a:ext cx="3708000" cy="503999"/>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80000" y="1080000"/>
            <a:ext cx="3564000" cy="338554"/>
          </a:xfrm>
          <a:prstGeom prst="rect">
            <a:avLst/>
          </a:prstGeom>
          <a:noFill/>
        </p:spPr>
        <p:txBody>
          <a:bodyPr wrap="square">
            <a:spAutoFit/>
          </a:bodyPr>
          <a:lstStyle/>
          <a:p>
            <a:pPr algn="ctr"/>
            <a:r>
              <a:rPr lang="en-US" sz="1600" b="1" dirty="0">
                <a:solidFill>
                  <a:srgbClr val="FFFFFF"/>
                </a:solidFill>
                <a:latin typeface="游ゴシック"/>
              </a:rPr>
              <a:t>phase</a:t>
            </a:r>
            <a:r>
              <a:rPr sz="1600" b="1" dirty="0">
                <a:solidFill>
                  <a:srgbClr val="FFFFFF"/>
                </a:solidFill>
                <a:latin typeface="游ゴシック"/>
              </a:rPr>
              <a:t>3</a:t>
            </a:r>
          </a:p>
        </p:txBody>
      </p:sp>
      <p:sp>
        <p:nvSpPr>
          <p:cNvPr id="20" name="TextBox 19"/>
          <p:cNvSpPr txBox="1"/>
          <p:nvPr/>
        </p:nvSpPr>
        <p:spPr>
          <a:xfrm>
            <a:off x="8316000" y="1655999"/>
            <a:ext cx="3491999" cy="1368000"/>
          </a:xfrm>
          <a:prstGeom prst="rect">
            <a:avLst/>
          </a:prstGeom>
          <a:noFill/>
        </p:spPr>
        <p:txBody>
          <a:bodyPr wrap="square">
            <a:spAutoFit/>
          </a:bodyPr>
          <a:lstStyle/>
          <a:p>
            <a:pPr algn="ctr"/>
            <a:r>
              <a:rPr sz="1300" b="0">
                <a:solidFill>
                  <a:srgbClr val="1E293B"/>
                </a:solidFill>
                <a:latin typeface="游ゴシック"/>
              </a:rPr>
              <a:t>バスを使う場合と使わない場合を</a:t>
            </a:r>
          </a:p>
          <a:p>
            <a:pPr algn="ctr"/>
            <a:r>
              <a:rPr sz="1300" b="0">
                <a:solidFill>
                  <a:srgbClr val="1E293B"/>
                </a:solidFill>
                <a:latin typeface="游ゴシック"/>
              </a:rPr>
              <a:t>条件をそろえて比較</a:t>
            </a:r>
          </a:p>
        </p:txBody>
      </p:sp>
      <p:sp>
        <p:nvSpPr>
          <p:cNvPr id="21" name="TextBox 20"/>
          <p:cNvSpPr txBox="1"/>
          <p:nvPr/>
        </p:nvSpPr>
        <p:spPr>
          <a:xfrm>
            <a:off x="8316000" y="3096000"/>
            <a:ext cx="3491999" cy="864000"/>
          </a:xfrm>
          <a:prstGeom prst="rect">
            <a:avLst/>
          </a:prstGeom>
          <a:noFill/>
        </p:spPr>
        <p:txBody>
          <a:bodyPr wrap="square">
            <a:spAutoFit/>
          </a:bodyPr>
          <a:lstStyle/>
          <a:p>
            <a:pPr algn="ctr"/>
            <a:r>
              <a:rPr sz="1400" b="1">
                <a:solidFill>
                  <a:srgbClr val="16A34A"/>
                </a:solidFill>
                <a:latin typeface="游ゴシック"/>
              </a:rPr>
              <a:t>完了</a:t>
            </a:r>
          </a:p>
          <a:p>
            <a:pPr algn="ctr"/>
            <a:r>
              <a:rPr sz="1400" b="1">
                <a:solidFill>
                  <a:srgbClr val="16A34A"/>
                </a:solidFill>
                <a:latin typeface="游ゴシック"/>
              </a:rPr>
              <a:t>（差ははっきりしなかった）</a:t>
            </a:r>
          </a:p>
        </p:txBody>
      </p:sp>
      <p:sp>
        <p:nvSpPr>
          <p:cNvPr id="22" name="Rectangle 21"/>
          <p:cNvSpPr/>
          <p:nvPr/>
        </p:nvSpPr>
        <p:spPr>
          <a:xfrm>
            <a:off x="360000" y="4392000"/>
            <a:ext cx="11473200" cy="1835999"/>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0000" y="4500000"/>
            <a:ext cx="11088000" cy="288000"/>
          </a:xfrm>
          <a:prstGeom prst="rect">
            <a:avLst/>
          </a:prstGeom>
          <a:noFill/>
        </p:spPr>
        <p:txBody>
          <a:bodyPr wrap="square">
            <a:spAutoFit/>
          </a:bodyPr>
          <a:lstStyle/>
          <a:p>
            <a:pPr algn="l"/>
            <a:r>
              <a:rPr sz="1500" b="1">
                <a:solidFill>
                  <a:srgbClr val="1E40AF"/>
                </a:solidFill>
                <a:latin typeface="游ゴシック"/>
              </a:rPr>
              <a:t>研究のまとめの一文</a:t>
            </a:r>
          </a:p>
        </p:txBody>
      </p:sp>
      <p:sp>
        <p:nvSpPr>
          <p:cNvPr id="24" name="TextBox 23"/>
          <p:cNvSpPr txBox="1"/>
          <p:nvPr/>
        </p:nvSpPr>
        <p:spPr>
          <a:xfrm>
            <a:off x="540000" y="4824000"/>
            <a:ext cx="11088000" cy="720000"/>
          </a:xfrm>
          <a:prstGeom prst="rect">
            <a:avLst/>
          </a:prstGeom>
          <a:noFill/>
        </p:spPr>
        <p:txBody>
          <a:bodyPr wrap="square">
            <a:spAutoFit/>
          </a:bodyPr>
          <a:lstStyle/>
          <a:p>
            <a:pPr algn="l"/>
            <a:r>
              <a:rPr sz="1400" b="0">
                <a:solidFill>
                  <a:srgbClr val="1E293B"/>
                </a:solidFill>
                <a:latin typeface="游ゴシック"/>
              </a:rPr>
              <a:t>今回試した条件と回数の範囲では、バスを使うと使わないとで、高齢者や車を持たない人が</a:t>
            </a:r>
          </a:p>
          <a:p>
            <a:pPr algn="l"/>
            <a:r>
              <a:rPr sz="1400" b="0">
                <a:solidFill>
                  <a:srgbClr val="1E293B"/>
                </a:solidFill>
                <a:latin typeface="游ゴシック"/>
              </a:rPr>
              <a:t>避難を終えられる割合に、はっきりとした良し悪しの差は見られなかった。</a:t>
            </a:r>
          </a:p>
        </p:txBody>
      </p:sp>
      <p:sp>
        <p:nvSpPr>
          <p:cNvPr id="25" name="TextBox 24"/>
          <p:cNvSpPr txBox="1"/>
          <p:nvPr/>
        </p:nvSpPr>
        <p:spPr>
          <a:xfrm>
            <a:off x="540000" y="5508000"/>
            <a:ext cx="11088000" cy="684000"/>
          </a:xfrm>
          <a:prstGeom prst="rect">
            <a:avLst/>
          </a:prstGeom>
          <a:noFill/>
        </p:spPr>
        <p:txBody>
          <a:bodyPr wrap="square">
            <a:spAutoFit/>
          </a:bodyPr>
          <a:lstStyle/>
          <a:p>
            <a:pPr algn="l"/>
            <a:r>
              <a:rPr sz="1350" b="0">
                <a:solidFill>
                  <a:srgbClr val="64748B"/>
                </a:solidFill>
                <a:latin typeface="游ゴシック"/>
              </a:rPr>
              <a:t>残る作業は卒業論文を仕上げるための編集のみ（様式への転記・参考文献の整形・図表の配置・校正・要旨作成）。</a:t>
            </a:r>
          </a:p>
          <a:p>
            <a:pPr algn="l"/>
            <a:r>
              <a:rPr sz="1350" b="0">
                <a:solidFill>
                  <a:srgbClr val="64748B"/>
                </a:solidFill>
                <a:latin typeface="游ゴシック"/>
              </a:rPr>
              <a:t>年末まで着手を保留する。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前回報告からの主な更新</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2026年7月21日〜22日にまとめた内容（統合経過報告20260729）</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080000"/>
            <a:ext cx="10980000" cy="2723823"/>
          </a:xfrm>
          <a:prstGeom prst="rect">
            <a:avLst/>
          </a:prstGeom>
          <a:noFill/>
        </p:spPr>
        <p:txBody>
          <a:bodyPr wrap="square">
            <a:spAutoFit/>
          </a:bodyPr>
          <a:lstStyle/>
          <a:p>
            <a:pPr>
              <a:spcBef>
                <a:spcPts val="600"/>
              </a:spcBef>
            </a:pPr>
            <a:r>
              <a:rPr sz="1700" dirty="0">
                <a:solidFill>
                  <a:srgbClr val="1E293B"/>
                </a:solidFill>
                <a:latin typeface="游ゴシック"/>
              </a:rPr>
              <a:t>① </a:t>
            </a:r>
            <a:r>
              <a:rPr sz="1700" dirty="0" err="1">
                <a:solidFill>
                  <a:srgbClr val="1E293B"/>
                </a:solidFill>
                <a:latin typeface="游ゴシック"/>
              </a:rPr>
              <a:t>以前使っていた数値に誤りが見つかり、取り下げた</a:t>
            </a:r>
            <a:endParaRPr sz="1700" dirty="0">
              <a:solidFill>
                <a:srgbClr val="1E293B"/>
              </a:solidFill>
              <a:latin typeface="游ゴシック"/>
            </a:endParaRPr>
          </a:p>
          <a:p>
            <a:pPr>
              <a:spcBef>
                <a:spcPts val="600"/>
              </a:spcBef>
            </a:pPr>
            <a:r>
              <a:rPr sz="1700" dirty="0">
                <a:solidFill>
                  <a:srgbClr val="1E293B"/>
                </a:solidFill>
                <a:latin typeface="游ゴシック"/>
              </a:rPr>
              <a:t>② </a:t>
            </a:r>
            <a:r>
              <a:rPr sz="1700" dirty="0" err="1">
                <a:solidFill>
                  <a:srgbClr val="1E293B"/>
                </a:solidFill>
                <a:latin typeface="游ゴシック"/>
              </a:rPr>
              <a:t>バスなしの場合とバスありの場合を、同じ条件で比べられるようにした</a:t>
            </a:r>
            <a:endParaRPr sz="1700" dirty="0">
              <a:solidFill>
                <a:srgbClr val="1E293B"/>
              </a:solidFill>
              <a:latin typeface="游ゴシック"/>
            </a:endParaRPr>
          </a:p>
          <a:p>
            <a:pPr>
              <a:spcBef>
                <a:spcPts val="600"/>
              </a:spcBef>
            </a:pPr>
            <a:r>
              <a:rPr sz="1700" dirty="0">
                <a:solidFill>
                  <a:srgbClr val="1E293B"/>
                </a:solidFill>
                <a:latin typeface="游ゴシック"/>
              </a:rPr>
              <a:t>③ </a:t>
            </a:r>
            <a:r>
              <a:rPr sz="1700" dirty="0" err="1">
                <a:solidFill>
                  <a:srgbClr val="1E293B"/>
                </a:solidFill>
                <a:latin typeface="游ゴシック"/>
              </a:rPr>
              <a:t>何を・どう比べるかを先に決め、バスの利用人数の数え方も直した</a:t>
            </a:r>
            <a:endParaRPr sz="1700" dirty="0">
              <a:solidFill>
                <a:srgbClr val="1E293B"/>
              </a:solidFill>
              <a:latin typeface="游ゴシック"/>
            </a:endParaRPr>
          </a:p>
          <a:p>
            <a:pPr>
              <a:spcBef>
                <a:spcPts val="600"/>
              </a:spcBef>
            </a:pPr>
            <a:r>
              <a:rPr sz="1700" dirty="0">
                <a:solidFill>
                  <a:srgbClr val="1E293B"/>
                </a:solidFill>
                <a:latin typeface="游ゴシック"/>
              </a:rPr>
              <a:t>④ 1回だけの結果ではなく、何度も実行して比べる方式に変えた</a:t>
            </a:r>
          </a:p>
          <a:p>
            <a:pPr>
              <a:spcBef>
                <a:spcPts val="600"/>
              </a:spcBef>
            </a:pPr>
            <a:r>
              <a:rPr sz="1700" dirty="0">
                <a:solidFill>
                  <a:srgbClr val="1E293B"/>
                </a:solidFill>
                <a:latin typeface="游ゴシック"/>
              </a:rPr>
              <a:t>⑤ </a:t>
            </a:r>
            <a:r>
              <a:rPr sz="1700" dirty="0" err="1">
                <a:solidFill>
                  <a:srgbClr val="1E293B"/>
                </a:solidFill>
                <a:latin typeface="游ゴシック"/>
              </a:rPr>
              <a:t>比較の結論（はっきりした差はない）を固定した</a:t>
            </a:r>
            <a:endParaRPr sz="1700" dirty="0">
              <a:solidFill>
                <a:srgbClr val="1E293B"/>
              </a:solidFill>
              <a:latin typeface="游ゴシック"/>
            </a:endParaRPr>
          </a:p>
          <a:p>
            <a:pPr>
              <a:spcBef>
                <a:spcPts val="600"/>
              </a:spcBef>
            </a:pPr>
            <a:r>
              <a:rPr sz="1700" dirty="0">
                <a:solidFill>
                  <a:srgbClr val="1E293B"/>
                </a:solidFill>
                <a:latin typeface="游ゴシック"/>
              </a:rPr>
              <a:t>⑥ </a:t>
            </a:r>
            <a:r>
              <a:rPr sz="1700" dirty="0" err="1">
                <a:solidFill>
                  <a:srgbClr val="1E293B"/>
                </a:solidFill>
                <a:latin typeface="游ゴシック"/>
              </a:rPr>
              <a:t>後から誰が確認しても同じ結果になるよう、記録の残し方を整えた</a:t>
            </a:r>
            <a:endParaRPr sz="1700" dirty="0">
              <a:solidFill>
                <a:srgbClr val="1E293B"/>
              </a:solidFill>
              <a:latin typeface="游ゴシック"/>
            </a:endParaRPr>
          </a:p>
          <a:p>
            <a:pPr>
              <a:spcBef>
                <a:spcPts val="600"/>
              </a:spcBef>
            </a:pPr>
            <a:r>
              <a:rPr sz="1700" dirty="0">
                <a:solidFill>
                  <a:srgbClr val="1E293B"/>
                </a:solidFill>
                <a:latin typeface="游ゴシック"/>
              </a:rPr>
              <a:t>⑦ </a:t>
            </a:r>
            <a:r>
              <a:rPr sz="1700" dirty="0" err="1">
                <a:solidFill>
                  <a:srgbClr val="1E293B"/>
                </a:solidFill>
                <a:latin typeface="游ゴシック"/>
              </a:rPr>
              <a:t>高齢者・車を持たない人だけを取り出して、もう一度比べ直した</a:t>
            </a:r>
            <a:endParaRPr sz="1700" dirty="0">
              <a:solidFill>
                <a:srgbClr val="1E293B"/>
              </a:solidFill>
              <a:latin typeface="游ゴシック"/>
            </a:endParaRPr>
          </a:p>
          <a:p>
            <a:pPr>
              <a:spcBef>
                <a:spcPts val="600"/>
              </a:spcBef>
            </a:pPr>
            <a:r>
              <a:rPr sz="1700" dirty="0">
                <a:solidFill>
                  <a:srgbClr val="1E293B"/>
                </a:solidFill>
                <a:latin typeface="游ゴシック"/>
              </a:rPr>
              <a:t>⑧ </a:t>
            </a:r>
            <a:r>
              <a:rPr sz="1700" dirty="0" err="1">
                <a:solidFill>
                  <a:srgbClr val="1E293B"/>
                </a:solidFill>
                <a:latin typeface="游ゴシック"/>
              </a:rPr>
              <a:t>常総市の過去の状況（実際の交通など）を調べて確認した</a:t>
            </a:r>
            <a:endParaRPr sz="1700" dirty="0">
              <a:solidFill>
                <a:srgbClr val="1E293B"/>
              </a:solidFill>
              <a:latin typeface="游ゴシック"/>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① 検証方法の見直し</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本格的に比較を始める前に見つかった問題点</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080000"/>
            <a:ext cx="10980000" cy="2340000"/>
          </a:xfrm>
          <a:prstGeom prst="rect">
            <a:avLst/>
          </a:prstGeom>
          <a:noFill/>
        </p:spPr>
        <p:txBody>
          <a:bodyPr wrap="square">
            <a:spAutoFit/>
          </a:bodyPr>
          <a:lstStyle/>
          <a:p>
            <a:pPr>
              <a:spcBef>
                <a:spcPts val="600"/>
              </a:spcBef>
            </a:pPr>
            <a:r>
              <a:rPr sz="1700">
                <a:solidFill>
                  <a:srgbClr val="1E293B"/>
                </a:solidFill>
                <a:latin typeface="游ゴシック"/>
              </a:rPr>
              <a:t>・ 「バスで助かる人数」の見積もりと、実際の人口の数え方にずれがあった</a:t>
            </a:r>
          </a:p>
          <a:p>
            <a:pPr>
              <a:spcBef>
                <a:spcPts val="600"/>
              </a:spcBef>
            </a:pPr>
            <a:r>
              <a:rPr sz="1700">
                <a:solidFill>
                  <a:srgbClr val="1E293B"/>
                </a:solidFill>
                <a:latin typeface="游ゴシック"/>
              </a:rPr>
              <a:t>・ シミュレーションソフトの標準設定のままだと、渋滞で長く止まった車が自動的に動かされてしまい、渋滞が実際より軽く見える可能性があった</a:t>
            </a:r>
          </a:p>
          <a:p>
            <a:pPr>
              <a:spcBef>
                <a:spcPts val="600"/>
              </a:spcBef>
            </a:pPr>
            <a:r>
              <a:rPr sz="1700">
                <a:solidFill>
                  <a:srgbClr val="1E293B"/>
                </a:solidFill>
                <a:latin typeface="游ゴシック"/>
              </a:rPr>
              <a:t>・ 小さい規模の試験と、常総市全体の人口規模の差が大きすぎた</a:t>
            </a:r>
          </a:p>
          <a:p>
            <a:pPr>
              <a:spcBef>
                <a:spcPts val="600"/>
              </a:spcBef>
            </a:pPr>
            <a:r>
              <a:rPr sz="1700">
                <a:solidFill>
                  <a:srgbClr val="1E293B"/>
                </a:solidFill>
                <a:latin typeface="游ゴシック"/>
              </a:rPr>
              <a:t>・ 高齢者や車を持たない人が、無事に避難できたかを直接確認する仕組みが足りなかった</a:t>
            </a:r>
          </a:p>
        </p:txBody>
      </p:sp>
      <p:sp>
        <p:nvSpPr>
          <p:cNvPr id="8" name="Rectangle 7"/>
          <p:cNvSpPr/>
          <p:nvPr/>
        </p:nvSpPr>
        <p:spPr>
          <a:xfrm>
            <a:off x="360000" y="3600000"/>
            <a:ext cx="11473200" cy="1548000"/>
          </a:xfrm>
          <a:prstGeom prst="rect">
            <a:avLst/>
          </a:prstGeom>
          <a:solidFill>
            <a:srgbClr val="FEF3C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0000" y="3708000"/>
            <a:ext cx="11088000" cy="288000"/>
          </a:xfrm>
          <a:prstGeom prst="rect">
            <a:avLst/>
          </a:prstGeom>
          <a:noFill/>
        </p:spPr>
        <p:txBody>
          <a:bodyPr wrap="square">
            <a:spAutoFit/>
          </a:bodyPr>
          <a:lstStyle/>
          <a:p>
            <a:pPr algn="l"/>
            <a:r>
              <a:rPr sz="1500" b="1">
                <a:solidFill>
                  <a:srgbClr val="F59E0B"/>
                </a:solidFill>
                <a:latin typeface="游ゴシック"/>
              </a:rPr>
              <a:t>方針の変更</a:t>
            </a:r>
          </a:p>
        </p:txBody>
      </p:sp>
      <p:sp>
        <p:nvSpPr>
          <p:cNvPr id="10" name="TextBox 9"/>
          <p:cNvSpPr txBox="1"/>
          <p:nvPr/>
        </p:nvSpPr>
        <p:spPr>
          <a:xfrm>
            <a:off x="540000" y="3996000"/>
            <a:ext cx="11088000" cy="1080000"/>
          </a:xfrm>
          <a:prstGeom prst="rect">
            <a:avLst/>
          </a:prstGeom>
          <a:noFill/>
        </p:spPr>
        <p:txBody>
          <a:bodyPr wrap="square">
            <a:spAutoFit/>
          </a:bodyPr>
          <a:lstStyle/>
          <a:p>
            <a:pPr algn="l"/>
            <a:r>
              <a:rPr sz="1450" b="0">
                <a:solidFill>
                  <a:srgbClr val="1E293B"/>
                </a:solidFill>
                <a:latin typeface="游ゴシック"/>
              </a:rPr>
              <a:t>「バスを増やせば良くなるはずだ」という思い込みを前提にせず、比べ方・車の数え方・確認の仕方を</a:t>
            </a:r>
          </a:p>
          <a:p>
            <a:pPr algn="l"/>
            <a:r>
              <a:rPr sz="1450" b="0">
                <a:solidFill>
                  <a:srgbClr val="1E293B"/>
                </a:solidFill>
                <a:latin typeface="游ゴシック"/>
              </a:rPr>
              <a:t>先に決めてから結果を見る方針に変えた。差が出なかった場合も、それを正しい結果として</a:t>
            </a:r>
          </a:p>
          <a:p>
            <a:pPr algn="l"/>
            <a:r>
              <a:rPr sz="1450" b="0">
                <a:solidFill>
                  <a:srgbClr val="1E293B"/>
                </a:solidFill>
                <a:latin typeface="游ゴシック"/>
              </a:rPr>
              <a:t>受け止めることを、結果を見る前に決めていた。</a:t>
            </a:r>
          </a:p>
        </p:txBody>
      </p:sp>
      <p:sp>
        <p:nvSpPr>
          <p:cNvPr id="11" name="Rectangle 10"/>
          <p:cNvSpPr/>
          <p:nvPr/>
        </p:nvSpPr>
        <p:spPr>
          <a:xfrm>
            <a:off x="360000" y="5328000"/>
            <a:ext cx="11473200" cy="1188000"/>
          </a:xfrm>
          <a:prstGeom prst="rect">
            <a:avLst/>
          </a:prstGeom>
          <a:solidFill>
            <a:srgbClr val="FEE2E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000" y="5400000"/>
            <a:ext cx="11088000" cy="251999"/>
          </a:xfrm>
          <a:prstGeom prst="rect">
            <a:avLst/>
          </a:prstGeom>
          <a:noFill/>
        </p:spPr>
        <p:txBody>
          <a:bodyPr wrap="square">
            <a:spAutoFit/>
          </a:bodyPr>
          <a:lstStyle/>
          <a:p>
            <a:pPr algn="l"/>
            <a:r>
              <a:rPr sz="1400" b="1">
                <a:solidFill>
                  <a:srgbClr val="7F1D1D"/>
                </a:solidFill>
                <a:latin typeface="游ゴシック"/>
              </a:rPr>
              <a:t>以前使っていたが、誤りとわかり使わなくなった数値</a:t>
            </a:r>
          </a:p>
        </p:txBody>
      </p:sp>
      <p:sp>
        <p:nvSpPr>
          <p:cNvPr id="13" name="TextBox 12"/>
          <p:cNvSpPr txBox="1"/>
          <p:nvPr/>
        </p:nvSpPr>
        <p:spPr>
          <a:xfrm>
            <a:off x="540000" y="5652000"/>
            <a:ext cx="11088000" cy="792000"/>
          </a:xfrm>
          <a:prstGeom prst="rect">
            <a:avLst/>
          </a:prstGeom>
          <a:noFill/>
        </p:spPr>
        <p:txBody>
          <a:bodyPr wrap="square">
            <a:spAutoFit/>
          </a:bodyPr>
          <a:lstStyle/>
          <a:p>
            <a:pPr algn="l"/>
            <a:r>
              <a:rPr sz="1350" b="0">
                <a:solidFill>
                  <a:srgbClr val="7F1D1D"/>
                </a:solidFill>
                <a:latin typeface="游ゴシック"/>
              </a:rPr>
              <a:t>バスの乗車91人・到着67人・未到着24人／救出走行29台の削減／バスあり側の車の数9,540台／以前の需要充足率</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② バスなし・バスありを同じ条件で比較できるようにした</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違いが「バスがあるかないか」だけになるよう処理をそろえた</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080000"/>
            <a:ext cx="10980000" cy="3060000"/>
          </a:xfrm>
          <a:prstGeom prst="rect">
            <a:avLst/>
          </a:prstGeom>
          <a:noFill/>
        </p:spPr>
        <p:txBody>
          <a:bodyPr wrap="square">
            <a:spAutoFit/>
          </a:bodyPr>
          <a:lstStyle/>
          <a:p>
            <a:pPr>
              <a:spcBef>
                <a:spcPts val="600"/>
              </a:spcBef>
            </a:pPr>
            <a:r>
              <a:rPr sz="1700">
                <a:solidFill>
                  <a:srgbClr val="1E293B"/>
                </a:solidFill>
                <a:latin typeface="游ゴシック"/>
              </a:rPr>
              <a:t>・ 浸水で通れなくなった道を通行止めにする処理</a:t>
            </a:r>
          </a:p>
          <a:p>
            <a:pPr>
              <a:spcBef>
                <a:spcPts val="600"/>
              </a:spcBef>
            </a:pPr>
            <a:r>
              <a:rPr sz="1700">
                <a:solidFill>
                  <a:srgbClr val="1E293B"/>
                </a:solidFill>
                <a:latin typeface="游ゴシック"/>
              </a:rPr>
              <a:t>・ 道が通れなくなったときに、別の道を探す処理</a:t>
            </a:r>
          </a:p>
          <a:p>
            <a:pPr>
              <a:spcBef>
                <a:spcPts val="600"/>
              </a:spcBef>
            </a:pPr>
            <a:r>
              <a:rPr sz="1700">
                <a:solidFill>
                  <a:srgbClr val="1E293B"/>
                </a:solidFill>
                <a:latin typeface="游ゴシック"/>
              </a:rPr>
              <a:t>・ 出発前にすでに道が通れなくなっていた車の扱い</a:t>
            </a:r>
          </a:p>
          <a:p>
            <a:pPr>
              <a:spcBef>
                <a:spcPts val="600"/>
              </a:spcBef>
            </a:pPr>
            <a:r>
              <a:rPr sz="1700">
                <a:solidFill>
                  <a:srgbClr val="1E293B"/>
                </a:solidFill>
                <a:latin typeface="游ゴシック"/>
              </a:rPr>
              <a:t>・ シミュレーションを終える条件</a:t>
            </a:r>
          </a:p>
          <a:p>
            <a:pPr>
              <a:spcBef>
                <a:spcPts val="600"/>
              </a:spcBef>
            </a:pPr>
            <a:r>
              <a:rPr sz="1700">
                <a:solidFill>
                  <a:srgbClr val="1E293B"/>
                </a:solidFill>
                <a:latin typeface="游ゴシック"/>
              </a:rPr>
              <a:t>・ 車ごとの記録の残し方</a:t>
            </a:r>
          </a:p>
          <a:p>
            <a:pPr>
              <a:spcBef>
                <a:spcPts val="600"/>
              </a:spcBef>
            </a:pPr>
            <a:r>
              <a:rPr sz="1700">
                <a:solidFill>
                  <a:srgbClr val="1E293B"/>
                </a:solidFill>
                <a:latin typeface="游ゴシック"/>
              </a:rPr>
              <a:t>・ 長時間止まった車を自動的に動かしてしまう機能を止めたこと（止めないと渋滞が実際より軽く見える）</a:t>
            </a:r>
          </a:p>
        </p:txBody>
      </p:sp>
      <p:sp>
        <p:nvSpPr>
          <p:cNvPr id="8" name="Rectangle 7"/>
          <p:cNvSpPr/>
          <p:nvPr/>
        </p:nvSpPr>
        <p:spPr>
          <a:xfrm>
            <a:off x="360000" y="4320000"/>
            <a:ext cx="11473200" cy="1908000"/>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0000" y="4428000"/>
            <a:ext cx="11088000" cy="288000"/>
          </a:xfrm>
          <a:prstGeom prst="rect">
            <a:avLst/>
          </a:prstGeom>
          <a:noFill/>
        </p:spPr>
        <p:txBody>
          <a:bodyPr wrap="square">
            <a:spAutoFit/>
          </a:bodyPr>
          <a:lstStyle/>
          <a:p>
            <a:pPr algn="l"/>
            <a:r>
              <a:rPr sz="1500" b="1">
                <a:solidFill>
                  <a:srgbClr val="1E40AF"/>
                </a:solidFill>
                <a:latin typeface="游ゴシック"/>
              </a:rPr>
              <a:t>あとから確認できるようにした工夫</a:t>
            </a:r>
          </a:p>
        </p:txBody>
      </p:sp>
      <p:sp>
        <p:nvSpPr>
          <p:cNvPr id="10" name="TextBox 9"/>
          <p:cNvSpPr txBox="1"/>
          <p:nvPr/>
        </p:nvSpPr>
        <p:spPr>
          <a:xfrm>
            <a:off x="540000" y="4752000"/>
            <a:ext cx="11088000" cy="1404000"/>
          </a:xfrm>
          <a:prstGeom prst="rect">
            <a:avLst/>
          </a:prstGeom>
          <a:noFill/>
        </p:spPr>
        <p:txBody>
          <a:bodyPr wrap="square">
            <a:spAutoFit/>
          </a:bodyPr>
          <a:lstStyle/>
          <a:p>
            <a:pPr algn="l"/>
            <a:r>
              <a:rPr sz="1450" b="0">
                <a:solidFill>
                  <a:srgbClr val="1E293B"/>
                </a:solidFill>
                <a:latin typeface="游ゴシック"/>
              </a:rPr>
              <a:t>実行するたびに、使った道路データ・車の数・開始と終了の時刻・乱数の設定（下記の※参照）を</a:t>
            </a:r>
          </a:p>
          <a:p>
            <a:pPr algn="l"/>
            <a:r>
              <a:rPr sz="1450" b="0">
                <a:solidFill>
                  <a:srgbClr val="1E293B"/>
                </a:solidFill>
                <a:latin typeface="游ゴシック"/>
              </a:rPr>
              <a:t>記録し、あとから同じ条件で確認できるようにした。バスなし用とバスあり用の取り違えも防いだ。</a:t>
            </a:r>
          </a:p>
        </p:txBody>
      </p:sp>
      <p:sp>
        <p:nvSpPr>
          <p:cNvPr id="11" name="TextBox 10"/>
          <p:cNvSpPr txBox="1"/>
          <p:nvPr/>
        </p:nvSpPr>
        <p:spPr>
          <a:xfrm>
            <a:off x="360000" y="6336000"/>
            <a:ext cx="11473200" cy="251999"/>
          </a:xfrm>
          <a:prstGeom prst="rect">
            <a:avLst/>
          </a:prstGeom>
          <a:noFill/>
        </p:spPr>
        <p:txBody>
          <a:bodyPr wrap="square">
            <a:spAutoFit/>
          </a:bodyPr>
          <a:lstStyle/>
          <a:p>
            <a:pPr algn="l"/>
            <a:r>
              <a:rPr sz="1100" b="0">
                <a:solidFill>
                  <a:srgbClr val="64748B"/>
                </a:solidFill>
                <a:latin typeface="游ゴシック"/>
              </a:rPr>
              <a:t>※乱数の設定＝車の出発タイミングなど、ランダムに決まる部分の初期値。これを変えると同じプログラムでも結果が変わる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② バスなしの場合を実行し直した結果</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長時間止まった車を自動的に動かす機能を止めて再実行</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007999"/>
            <a:ext cx="11088000" cy="648000"/>
          </a:xfrm>
          <a:prstGeom prst="rect">
            <a:avLst/>
          </a:prstGeom>
          <a:noFill/>
        </p:spPr>
        <p:txBody>
          <a:bodyPr wrap="square">
            <a:spAutoFit/>
          </a:bodyPr>
          <a:lstStyle/>
          <a:p>
            <a:pPr algn="l"/>
            <a:r>
              <a:rPr sz="1500" b="0">
                <a:solidFill>
                  <a:srgbClr val="1E293B"/>
                </a:solidFill>
                <a:latin typeface="游ゴシック"/>
              </a:rPr>
              <a:t>9,569台のうち9,090台が避難所に着き、479台が着けなかった。以前の「全車到着」という結果は、</a:t>
            </a:r>
          </a:p>
          <a:p>
            <a:pPr algn="l"/>
            <a:r>
              <a:rPr sz="1500" b="0">
                <a:solidFill>
                  <a:srgbClr val="1E293B"/>
                </a:solidFill>
                <a:latin typeface="游ゴシック"/>
              </a:rPr>
              <a:t>止まった車を自動で動かしてしまう設定に頼っていた、見かけ上の結果だった。</a:t>
            </a:r>
          </a:p>
        </p:txBody>
      </p:sp>
      <p:graphicFrame>
        <p:nvGraphicFramePr>
          <p:cNvPr id="8" name="Table 7"/>
          <p:cNvGraphicFramePr>
            <a:graphicFrameLocks noGrp="1"/>
          </p:cNvGraphicFramePr>
          <p:nvPr/>
        </p:nvGraphicFramePr>
        <p:xfrm>
          <a:off x="1260000" y="1872000"/>
          <a:ext cx="9673200" cy="18000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5353200">
                  <a:extLst>
                    <a:ext uri="{9D8B030D-6E8A-4147-A177-3AD203B41FA5}">
                      <a16:colId xmlns:a16="http://schemas.microsoft.com/office/drawing/2014/main" val="20002"/>
                    </a:ext>
                  </a:extLst>
                </a:gridCol>
              </a:tblGrid>
              <a:tr h="450000">
                <a:tc>
                  <a:txBody>
                    <a:bodyPr/>
                    <a:lstStyle/>
                    <a:p>
                      <a:pPr algn="ctr"/>
                      <a:r>
                        <a:rPr sz="1600" b="1">
                          <a:solidFill>
                            <a:srgbClr val="FFFFFF"/>
                          </a:solidFill>
                          <a:latin typeface="游ゴシック"/>
                        </a:rPr>
                        <a:t>状態</a:t>
                      </a:r>
                    </a:p>
                  </a:txBody>
                  <a:tcPr>
                    <a:solidFill>
                      <a:srgbClr val="1E40AF"/>
                    </a:solidFill>
                  </a:tcPr>
                </a:tc>
                <a:tc>
                  <a:txBody>
                    <a:bodyPr/>
                    <a:lstStyle/>
                    <a:p>
                      <a:pPr algn="ctr"/>
                      <a:r>
                        <a:rPr sz="1600" b="1">
                          <a:solidFill>
                            <a:srgbClr val="FFFFFF"/>
                          </a:solidFill>
                          <a:latin typeface="游ゴシック"/>
                        </a:rPr>
                        <a:t>台数</a:t>
                      </a:r>
                    </a:p>
                  </a:txBody>
                  <a:tcPr>
                    <a:solidFill>
                      <a:srgbClr val="1E40AF"/>
                    </a:solidFill>
                  </a:tcPr>
                </a:tc>
                <a:tc>
                  <a:txBody>
                    <a:bodyPr/>
                    <a:lstStyle/>
                    <a:p>
                      <a:pPr algn="ctr"/>
                      <a:r>
                        <a:rPr sz="1600" b="1">
                          <a:solidFill>
                            <a:srgbClr val="FFFFFF"/>
                          </a:solidFill>
                          <a:latin typeface="游ゴシック"/>
                        </a:rPr>
                        <a:t>説明</a:t>
                      </a:r>
                    </a:p>
                  </a:txBody>
                  <a:tcPr>
                    <a:solidFill>
                      <a:srgbClr val="1E40AF"/>
                    </a:solidFill>
                  </a:tcPr>
                </a:tc>
                <a:extLst>
                  <a:ext uri="{0D108BD9-81ED-4DB2-BD59-A6C34878D82A}">
                    <a16:rowId xmlns:a16="http://schemas.microsoft.com/office/drawing/2014/main" val="10000"/>
                  </a:ext>
                </a:extLst>
              </a:tr>
              <a:tr h="450000">
                <a:tc>
                  <a:txBody>
                    <a:bodyPr/>
                    <a:lstStyle/>
                    <a:p>
                      <a:pPr algn="ctr"/>
                      <a:r>
                        <a:rPr sz="1600">
                          <a:latin typeface="游ゴシック"/>
                        </a:rPr>
                        <a:t>道路上で孤立</a:t>
                      </a:r>
                    </a:p>
                  </a:txBody>
                  <a:tcPr/>
                </a:tc>
                <a:tc>
                  <a:txBody>
                    <a:bodyPr/>
                    <a:lstStyle/>
                    <a:p>
                      <a:pPr algn="ctr"/>
                      <a:r>
                        <a:rPr sz="1600">
                          <a:latin typeface="游ゴシック"/>
                        </a:rPr>
                        <a:t>68台</a:t>
                      </a:r>
                    </a:p>
                  </a:txBody>
                  <a:tcPr/>
                </a:tc>
                <a:tc>
                  <a:txBody>
                    <a:bodyPr/>
                    <a:lstStyle/>
                    <a:p>
                      <a:pPr algn="ctr"/>
                      <a:r>
                        <a:rPr sz="1600">
                          <a:latin typeface="游ゴシック"/>
                        </a:rPr>
                        <a:t>道が通れなくなり、避難所へ進める道がなくなった</a:t>
                      </a:r>
                    </a:p>
                  </a:txBody>
                  <a:tcPr/>
                </a:tc>
                <a:extLst>
                  <a:ext uri="{0D108BD9-81ED-4DB2-BD59-A6C34878D82A}">
                    <a16:rowId xmlns:a16="http://schemas.microsoft.com/office/drawing/2014/main" val="10001"/>
                  </a:ext>
                </a:extLst>
              </a:tr>
              <a:tr h="450000">
                <a:tc>
                  <a:txBody>
                    <a:bodyPr/>
                    <a:lstStyle/>
                    <a:p>
                      <a:pPr algn="ctr"/>
                      <a:r>
                        <a:rPr sz="1600">
                          <a:latin typeface="游ゴシック"/>
                        </a:rPr>
                        <a:t>交差点で詰まった</a:t>
                      </a:r>
                    </a:p>
                  </a:txBody>
                  <a:tcPr>
                    <a:solidFill>
                      <a:srgbClr val="DBEAFE"/>
                    </a:solidFill>
                  </a:tcPr>
                </a:tc>
                <a:tc>
                  <a:txBody>
                    <a:bodyPr/>
                    <a:lstStyle/>
                    <a:p>
                      <a:pPr algn="ctr"/>
                      <a:r>
                        <a:rPr sz="1600">
                          <a:latin typeface="游ゴシック"/>
                        </a:rPr>
                        <a:t>24台</a:t>
                      </a:r>
                    </a:p>
                  </a:txBody>
                  <a:tcPr>
                    <a:solidFill>
                      <a:srgbClr val="DBEAFE"/>
                    </a:solidFill>
                  </a:tcPr>
                </a:tc>
                <a:tc>
                  <a:txBody>
                    <a:bodyPr/>
                    <a:lstStyle/>
                    <a:p>
                      <a:pPr algn="ctr"/>
                      <a:r>
                        <a:rPr sz="1600">
                          <a:latin typeface="游ゴシック"/>
                        </a:rPr>
                        <a:t>交差点付近で動けなくなった</a:t>
                      </a:r>
                    </a:p>
                  </a:txBody>
                  <a:tcPr>
                    <a:solidFill>
                      <a:srgbClr val="DBEAFE"/>
                    </a:solidFill>
                  </a:tcPr>
                </a:tc>
                <a:extLst>
                  <a:ext uri="{0D108BD9-81ED-4DB2-BD59-A6C34878D82A}">
                    <a16:rowId xmlns:a16="http://schemas.microsoft.com/office/drawing/2014/main" val="10002"/>
                  </a:ext>
                </a:extLst>
              </a:tr>
              <a:tr h="450000">
                <a:tc>
                  <a:txBody>
                    <a:bodyPr/>
                    <a:lstStyle/>
                    <a:p>
                      <a:pPr algn="ctr"/>
                      <a:r>
                        <a:rPr sz="1600">
                          <a:latin typeface="游ゴシック"/>
                        </a:rPr>
                        <a:t>列に並んで進めない</a:t>
                      </a:r>
                    </a:p>
                  </a:txBody>
                  <a:tcPr/>
                </a:tc>
                <a:tc>
                  <a:txBody>
                    <a:bodyPr/>
                    <a:lstStyle/>
                    <a:p>
                      <a:pPr algn="ctr"/>
                      <a:r>
                        <a:rPr sz="1600">
                          <a:latin typeface="游ゴシック"/>
                        </a:rPr>
                        <a:t>387台</a:t>
                      </a:r>
                    </a:p>
                  </a:txBody>
                  <a:tcPr/>
                </a:tc>
                <a:tc>
                  <a:txBody>
                    <a:bodyPr/>
                    <a:lstStyle/>
                    <a:p>
                      <a:pPr algn="ctr"/>
                      <a:r>
                        <a:rPr sz="1600">
                          <a:latin typeface="游ゴシック"/>
                        </a:rPr>
                        <a:t>前方の混雑や詰まりにより進めなくなった</a:t>
                      </a:r>
                    </a:p>
                  </a:txBody>
                  <a:tcPr/>
                </a:tc>
                <a:extLst>
                  <a:ext uri="{0D108BD9-81ED-4DB2-BD59-A6C34878D82A}">
                    <a16:rowId xmlns:a16="http://schemas.microsoft.com/office/drawing/2014/main" val="10003"/>
                  </a:ext>
                </a:extLst>
              </a:tr>
            </a:tbl>
          </a:graphicData>
        </a:graphic>
      </p:graphicFrame>
      <p:sp>
        <p:nvSpPr>
          <p:cNvPr id="9" name="Rectangle 8"/>
          <p:cNvSpPr/>
          <p:nvPr/>
        </p:nvSpPr>
        <p:spPr>
          <a:xfrm>
            <a:off x="360000" y="4140000"/>
            <a:ext cx="11473200" cy="1440000"/>
          </a:xfrm>
          <a:prstGeom prst="rect">
            <a:avLst/>
          </a:prstGeom>
          <a:solidFill>
            <a:srgbClr val="FEF3C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4284000"/>
            <a:ext cx="11088000" cy="1152000"/>
          </a:xfrm>
          <a:prstGeom prst="rect">
            <a:avLst/>
          </a:prstGeom>
          <a:noFill/>
        </p:spPr>
        <p:txBody>
          <a:bodyPr wrap="square">
            <a:spAutoFit/>
          </a:bodyPr>
          <a:lstStyle/>
          <a:p>
            <a:pPr algn="l"/>
            <a:r>
              <a:rPr sz="1450" b="0">
                <a:solidFill>
                  <a:srgbClr val="1E293B"/>
                </a:solidFill>
                <a:latin typeface="游ゴシック"/>
              </a:rPr>
              <a:t>「渋滞のせいで逃げ遅れる車はない」という以前の見方は誤りだったため取り下げた。</a:t>
            </a:r>
          </a:p>
          <a:p>
            <a:pPr algn="l"/>
            <a:r>
              <a:rPr sz="1450" b="0">
                <a:solidFill>
                  <a:srgbClr val="1E293B"/>
                </a:solidFill>
                <a:latin typeface="游ゴシック"/>
              </a:rPr>
              <a:t>ただし、道路データの変換・通行止めの表示・他の市区町村との比較といった、</a:t>
            </a:r>
          </a:p>
          <a:p>
            <a:pPr algn="l"/>
            <a:r>
              <a:rPr sz="1450" b="0">
                <a:solidFill>
                  <a:srgbClr val="1E293B"/>
                </a:solidFill>
                <a:latin typeface="游ゴシック"/>
              </a:rPr>
              <a:t>それ以外の成果はそのまま活かす。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③ 何を・どう比べるかを先に決めた</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比べる対象とルールを、結果を見る前に固定</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007999"/>
            <a:ext cx="11088000" cy="251999"/>
          </a:xfrm>
          <a:prstGeom prst="rect">
            <a:avLst/>
          </a:prstGeom>
          <a:noFill/>
        </p:spPr>
        <p:txBody>
          <a:bodyPr wrap="square">
            <a:spAutoFit/>
          </a:bodyPr>
          <a:lstStyle/>
          <a:p>
            <a:pPr algn="l"/>
            <a:r>
              <a:rPr sz="1500" b="1">
                <a:solidFill>
                  <a:srgbClr val="1E40AF"/>
                </a:solidFill>
                <a:latin typeface="游ゴシック"/>
              </a:rPr>
              <a:t>比べる対象</a:t>
            </a:r>
          </a:p>
        </p:txBody>
      </p:sp>
      <p:sp>
        <p:nvSpPr>
          <p:cNvPr id="8" name="TextBox 7"/>
          <p:cNvSpPr txBox="1"/>
          <p:nvPr/>
        </p:nvSpPr>
        <p:spPr>
          <a:xfrm>
            <a:off x="540000" y="1260000"/>
            <a:ext cx="11088000" cy="432000"/>
          </a:xfrm>
          <a:prstGeom prst="rect">
            <a:avLst/>
          </a:prstGeom>
          <a:noFill/>
        </p:spPr>
        <p:txBody>
          <a:bodyPr wrap="square">
            <a:spAutoFit/>
          </a:bodyPr>
          <a:lstStyle/>
          <a:p>
            <a:pPr algn="l"/>
            <a:r>
              <a:rPr sz="1450" b="0">
                <a:solidFill>
                  <a:srgbClr val="1E293B"/>
                </a:solidFill>
                <a:latin typeface="游ゴシック"/>
              </a:rPr>
              <a:t>高齢者や車を持たない人（下記の※参照）が、6時間以内に避難所へ着けた割合。対象人数は3,231.5人に固定した。</a:t>
            </a:r>
          </a:p>
        </p:txBody>
      </p:sp>
      <p:sp>
        <p:nvSpPr>
          <p:cNvPr id="9" name="TextBox 8"/>
          <p:cNvSpPr txBox="1"/>
          <p:nvPr/>
        </p:nvSpPr>
        <p:spPr>
          <a:xfrm>
            <a:off x="540000" y="1835999"/>
            <a:ext cx="11088000" cy="251999"/>
          </a:xfrm>
          <a:prstGeom prst="rect">
            <a:avLst/>
          </a:prstGeom>
          <a:noFill/>
        </p:spPr>
        <p:txBody>
          <a:bodyPr wrap="square">
            <a:spAutoFit/>
          </a:bodyPr>
          <a:lstStyle/>
          <a:p>
            <a:pPr algn="l"/>
            <a:r>
              <a:rPr sz="1500" b="1">
                <a:solidFill>
                  <a:srgbClr val="1E40AF"/>
                </a:solidFill>
                <a:latin typeface="游ゴシック"/>
              </a:rPr>
              <a:t>比べ方のルール（結果を見る前に固定）</a:t>
            </a:r>
          </a:p>
        </p:txBody>
      </p:sp>
      <p:sp>
        <p:nvSpPr>
          <p:cNvPr id="10" name="TextBox 9"/>
          <p:cNvSpPr txBox="1"/>
          <p:nvPr/>
        </p:nvSpPr>
        <p:spPr>
          <a:xfrm>
            <a:off x="540000" y="2124000"/>
            <a:ext cx="10980000" cy="2340000"/>
          </a:xfrm>
          <a:prstGeom prst="rect">
            <a:avLst/>
          </a:prstGeom>
          <a:noFill/>
        </p:spPr>
        <p:txBody>
          <a:bodyPr wrap="square">
            <a:spAutoFit/>
          </a:bodyPr>
          <a:lstStyle/>
          <a:p>
            <a:pPr>
              <a:spcBef>
                <a:spcPts val="600"/>
              </a:spcBef>
            </a:pPr>
            <a:r>
              <a:rPr sz="1600">
                <a:solidFill>
                  <a:srgbClr val="1E293B"/>
                </a:solidFill>
                <a:latin typeface="游ゴシック"/>
              </a:rPr>
              <a:t>・ バスなしを3回、バスありを5回実行し、すべての組み合わせ（15通り）を比べる</a:t>
            </a:r>
          </a:p>
          <a:p>
            <a:pPr>
              <a:spcBef>
                <a:spcPts val="600"/>
              </a:spcBef>
            </a:pPr>
            <a:r>
              <a:rPr sz="1600">
                <a:solidFill>
                  <a:srgbClr val="1E293B"/>
                </a:solidFill>
                <a:latin typeface="游ゴシック"/>
              </a:rPr>
              <a:t>・ 15通りすべてでバスありが良い、またはすべてで悪い場合だけ、「良くなった／悪くなった」と言う</a:t>
            </a:r>
          </a:p>
          <a:p>
            <a:pPr>
              <a:spcBef>
                <a:spcPts val="600"/>
              </a:spcBef>
            </a:pPr>
            <a:r>
              <a:rPr sz="1600">
                <a:solidFill>
                  <a:srgbClr val="1E293B"/>
                </a:solidFill>
                <a:latin typeface="游ゴシック"/>
              </a:rPr>
              <a:t>・ 一つでも結果の向きが違えば、「今回の実験だけでは、はっきりした差はわからない」とする</a:t>
            </a:r>
          </a:p>
          <a:p>
            <a:pPr>
              <a:spcBef>
                <a:spcPts val="600"/>
              </a:spcBef>
            </a:pPr>
            <a:r>
              <a:rPr sz="1600">
                <a:solidFill>
                  <a:srgbClr val="1E293B"/>
                </a:solidFill>
                <a:latin typeface="游ゴシック"/>
              </a:rPr>
              <a:t>・ 都合の悪い結果だけを後から取り除かない</a:t>
            </a:r>
          </a:p>
        </p:txBody>
      </p:sp>
      <p:sp>
        <p:nvSpPr>
          <p:cNvPr id="11" name="TextBox 10"/>
          <p:cNvSpPr txBox="1"/>
          <p:nvPr/>
        </p:nvSpPr>
        <p:spPr>
          <a:xfrm>
            <a:off x="360000" y="6336000"/>
            <a:ext cx="11473200" cy="251999"/>
          </a:xfrm>
          <a:prstGeom prst="rect">
            <a:avLst/>
          </a:prstGeom>
          <a:noFill/>
        </p:spPr>
        <p:txBody>
          <a:bodyPr wrap="square">
            <a:spAutoFit/>
          </a:bodyPr>
          <a:lstStyle/>
          <a:p>
            <a:pPr algn="l"/>
            <a:r>
              <a:rPr sz="1100" b="0">
                <a:solidFill>
                  <a:srgbClr val="64748B"/>
                </a:solidFill>
                <a:latin typeface="游ゴシック"/>
              </a:rPr>
              <a:t>※本研究では避難する人を4つのグループに分けており、そのうち「高齢者」「車を持たない人」の2グループをまとめて比べている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③ バスの利用人数の数え方を直した</a:t>
            </a:r>
          </a:p>
        </p:txBody>
      </p:sp>
      <p:sp>
        <p:nvSpPr>
          <p:cNvPr id="5" name="Rectangle 4"/>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007999"/>
            <a:ext cx="11088000" cy="648000"/>
          </a:xfrm>
          <a:prstGeom prst="rect">
            <a:avLst/>
          </a:prstGeom>
          <a:noFill/>
        </p:spPr>
        <p:txBody>
          <a:bodyPr wrap="square">
            <a:spAutoFit/>
          </a:bodyPr>
          <a:lstStyle/>
          <a:p>
            <a:pPr algn="l"/>
            <a:r>
              <a:rPr sz="1500" b="0">
                <a:solidFill>
                  <a:srgbClr val="1E293B"/>
                </a:solidFill>
                <a:latin typeface="游ゴシック"/>
              </a:rPr>
              <a:t>運行を途中で打ち切った2台のバスに乗っていた16人が、避難所に着いていないのに</a:t>
            </a:r>
          </a:p>
          <a:p>
            <a:pPr algn="l"/>
            <a:r>
              <a:rPr sz="1500" b="0">
                <a:solidFill>
                  <a:srgbClr val="1E293B"/>
                </a:solidFill>
                <a:latin typeface="游ゴシック"/>
              </a:rPr>
              <a:t>「着いた人」に数えられていた。この16人を除き、実際に避難所へ着いた人数を125人と確定した。</a:t>
            </a:r>
          </a:p>
        </p:txBody>
      </p:sp>
      <p:sp>
        <p:nvSpPr>
          <p:cNvPr id="7" name="Rectangle 6"/>
          <p:cNvSpPr/>
          <p:nvPr/>
        </p:nvSpPr>
        <p:spPr>
          <a:xfrm>
            <a:off x="540000" y="1800000"/>
            <a:ext cx="11113200" cy="576000"/>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0000" y="1908000"/>
            <a:ext cx="10728000" cy="396000"/>
          </a:xfrm>
          <a:prstGeom prst="rect">
            <a:avLst/>
          </a:prstGeom>
          <a:noFill/>
        </p:spPr>
        <p:txBody>
          <a:bodyPr wrap="square">
            <a:spAutoFit/>
          </a:bodyPr>
          <a:lstStyle/>
          <a:p>
            <a:pPr algn="ctr"/>
            <a:r>
              <a:rPr sz="1600" b="1">
                <a:solidFill>
                  <a:srgbClr val="1E40AF"/>
                </a:solidFill>
                <a:latin typeface="游ゴシック"/>
              </a:rPr>
              <a:t>125人 ÷ バス1台あたりの平均乗車人数（2.3人） を切り捨て ＝ 迎えの車を 54台 減らせる</a:t>
            </a:r>
          </a:p>
        </p:txBody>
      </p:sp>
      <p:graphicFrame>
        <p:nvGraphicFramePr>
          <p:cNvPr id="9" name="Table 8"/>
          <p:cNvGraphicFramePr>
            <a:graphicFrameLocks noGrp="1"/>
          </p:cNvGraphicFramePr>
          <p:nvPr/>
        </p:nvGraphicFramePr>
        <p:xfrm>
          <a:off x="1260000" y="2592000"/>
          <a:ext cx="9673200" cy="11520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gridCol w="2473200">
                  <a:extLst>
                    <a:ext uri="{9D8B030D-6E8A-4147-A177-3AD203B41FA5}">
                      <a16:colId xmlns:a16="http://schemas.microsoft.com/office/drawing/2014/main" val="20003"/>
                    </a:ext>
                  </a:extLst>
                </a:gridCol>
              </a:tblGrid>
              <a:tr h="384000">
                <a:tc>
                  <a:txBody>
                    <a:bodyPr/>
                    <a:lstStyle/>
                    <a:p>
                      <a:pPr algn="ctr"/>
                      <a:r>
                        <a:rPr sz="1600" b="1">
                          <a:solidFill>
                            <a:srgbClr val="FFFFFF"/>
                          </a:solidFill>
                          <a:latin typeface="游ゴシック"/>
                        </a:rPr>
                        <a:t>比較パターン</a:t>
                      </a:r>
                    </a:p>
                  </a:txBody>
                  <a:tcPr>
                    <a:solidFill>
                      <a:srgbClr val="1E40AF"/>
                    </a:solidFill>
                  </a:tcPr>
                </a:tc>
                <a:tc>
                  <a:txBody>
                    <a:bodyPr/>
                    <a:lstStyle/>
                    <a:p>
                      <a:pPr algn="ctr"/>
                      <a:r>
                        <a:rPr sz="1600" b="1">
                          <a:solidFill>
                            <a:srgbClr val="FFFFFF"/>
                          </a:solidFill>
                          <a:latin typeface="游ゴシック"/>
                        </a:rPr>
                        <a:t>自分の車</a:t>
                      </a:r>
                    </a:p>
                  </a:txBody>
                  <a:tcPr>
                    <a:solidFill>
                      <a:srgbClr val="1E40AF"/>
                    </a:solidFill>
                  </a:tcPr>
                </a:tc>
                <a:tc>
                  <a:txBody>
                    <a:bodyPr/>
                    <a:lstStyle/>
                    <a:p>
                      <a:pPr algn="ctr"/>
                      <a:r>
                        <a:rPr sz="1600" b="1">
                          <a:solidFill>
                            <a:srgbClr val="FFFFFF"/>
                          </a:solidFill>
                          <a:latin typeface="游ゴシック"/>
                        </a:rPr>
                        <a:t>迎えに行く車</a:t>
                      </a:r>
                    </a:p>
                  </a:txBody>
                  <a:tcPr>
                    <a:solidFill>
                      <a:srgbClr val="1E40AF"/>
                    </a:solidFill>
                  </a:tcPr>
                </a:tc>
                <a:tc>
                  <a:txBody>
                    <a:bodyPr/>
                    <a:lstStyle/>
                    <a:p>
                      <a:pPr algn="ctr"/>
                      <a:r>
                        <a:rPr sz="1600" b="1">
                          <a:solidFill>
                            <a:srgbClr val="FFFFFF"/>
                          </a:solidFill>
                          <a:latin typeface="游ゴシック"/>
                        </a:rPr>
                        <a:t>合計</a:t>
                      </a:r>
                    </a:p>
                  </a:txBody>
                  <a:tcPr>
                    <a:solidFill>
                      <a:srgbClr val="1E40AF"/>
                    </a:solidFill>
                  </a:tcPr>
                </a:tc>
                <a:extLst>
                  <a:ext uri="{0D108BD9-81ED-4DB2-BD59-A6C34878D82A}">
                    <a16:rowId xmlns:a16="http://schemas.microsoft.com/office/drawing/2014/main" val="10000"/>
                  </a:ext>
                </a:extLst>
              </a:tr>
              <a:tr h="384000">
                <a:tc>
                  <a:txBody>
                    <a:bodyPr/>
                    <a:lstStyle/>
                    <a:p>
                      <a:pPr algn="ctr"/>
                      <a:r>
                        <a:rPr sz="1600">
                          <a:latin typeface="游ゴシック"/>
                        </a:rPr>
                        <a:t>バスなし</a:t>
                      </a:r>
                    </a:p>
                  </a:txBody>
                  <a:tcPr/>
                </a:tc>
                <a:tc>
                  <a:txBody>
                    <a:bodyPr/>
                    <a:lstStyle/>
                    <a:p>
                      <a:pPr algn="ctr"/>
                      <a:r>
                        <a:rPr sz="1600">
                          <a:latin typeface="游ゴシック"/>
                        </a:rPr>
                        <a:t>8,164台</a:t>
                      </a:r>
                    </a:p>
                  </a:txBody>
                  <a:tcPr/>
                </a:tc>
                <a:tc>
                  <a:txBody>
                    <a:bodyPr/>
                    <a:lstStyle/>
                    <a:p>
                      <a:pPr algn="ctr"/>
                      <a:r>
                        <a:rPr sz="1600">
                          <a:latin typeface="游ゴシック"/>
                        </a:rPr>
                        <a:t>1,405台</a:t>
                      </a:r>
                    </a:p>
                  </a:txBody>
                  <a:tcPr/>
                </a:tc>
                <a:tc>
                  <a:txBody>
                    <a:bodyPr/>
                    <a:lstStyle/>
                    <a:p>
                      <a:pPr algn="ctr"/>
                      <a:r>
                        <a:rPr sz="1600">
                          <a:latin typeface="游ゴシック"/>
                        </a:rPr>
                        <a:t>9,569台</a:t>
                      </a:r>
                    </a:p>
                  </a:txBody>
                  <a:tcPr/>
                </a:tc>
                <a:extLst>
                  <a:ext uri="{0D108BD9-81ED-4DB2-BD59-A6C34878D82A}">
                    <a16:rowId xmlns:a16="http://schemas.microsoft.com/office/drawing/2014/main" val="10001"/>
                  </a:ext>
                </a:extLst>
              </a:tr>
              <a:tr h="384000">
                <a:tc>
                  <a:txBody>
                    <a:bodyPr/>
                    <a:lstStyle/>
                    <a:p>
                      <a:pPr algn="ctr"/>
                      <a:r>
                        <a:rPr sz="1600">
                          <a:latin typeface="游ゴシック"/>
                        </a:rPr>
                        <a:t>バスあり</a:t>
                      </a:r>
                    </a:p>
                  </a:txBody>
                  <a:tcPr>
                    <a:solidFill>
                      <a:srgbClr val="DBEAFE"/>
                    </a:solidFill>
                  </a:tcPr>
                </a:tc>
                <a:tc>
                  <a:txBody>
                    <a:bodyPr/>
                    <a:lstStyle/>
                    <a:p>
                      <a:pPr algn="ctr"/>
                      <a:r>
                        <a:rPr sz="1600">
                          <a:latin typeface="游ゴシック"/>
                        </a:rPr>
                        <a:t>8,164台</a:t>
                      </a:r>
                    </a:p>
                  </a:txBody>
                  <a:tcPr>
                    <a:solidFill>
                      <a:srgbClr val="DBEAFE"/>
                    </a:solidFill>
                  </a:tcPr>
                </a:tc>
                <a:tc>
                  <a:txBody>
                    <a:bodyPr/>
                    <a:lstStyle/>
                    <a:p>
                      <a:pPr algn="ctr"/>
                      <a:r>
                        <a:rPr sz="1600">
                          <a:latin typeface="游ゴシック"/>
                        </a:rPr>
                        <a:t>1,351台</a:t>
                      </a:r>
                    </a:p>
                  </a:txBody>
                  <a:tcPr>
                    <a:solidFill>
                      <a:srgbClr val="DBEAFE"/>
                    </a:solidFill>
                  </a:tcPr>
                </a:tc>
                <a:tc>
                  <a:txBody>
                    <a:bodyPr/>
                    <a:lstStyle/>
                    <a:p>
                      <a:pPr algn="ctr"/>
                      <a:r>
                        <a:rPr sz="1600">
                          <a:latin typeface="游ゴシック"/>
                        </a:rPr>
                        <a:t>9,515台＋バス</a:t>
                      </a:r>
                    </a:p>
                  </a:txBody>
                  <a:tcPr>
                    <a:solidFill>
                      <a:srgbClr val="DBEAFE"/>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540000" y="4031999"/>
            <a:ext cx="11088000" cy="864000"/>
          </a:xfrm>
          <a:prstGeom prst="rect">
            <a:avLst/>
          </a:prstGeom>
          <a:noFill/>
        </p:spPr>
        <p:txBody>
          <a:bodyPr wrap="square">
            <a:spAutoFit/>
          </a:bodyPr>
          <a:lstStyle/>
          <a:p>
            <a:pPr algn="l"/>
            <a:r>
              <a:rPr sz="1450" b="0">
                <a:solidFill>
                  <a:srgbClr val="64748B"/>
                </a:solidFill>
                <a:latin typeface="游ゴシック"/>
              </a:rPr>
              <a:t>同じプログラムでも実行するたびに人数が変わったため（125人・75人・207人）、1回の結果を</a:t>
            </a:r>
          </a:p>
          <a:p>
            <a:pPr algn="l"/>
            <a:r>
              <a:rPr sz="1450" b="0">
                <a:solidFill>
                  <a:srgbClr val="64748B"/>
                </a:solidFill>
                <a:latin typeface="游ゴシック"/>
              </a:rPr>
              <a:t>「正解」として使うのはやめ、車の削減数54台を固定したうえで、何度も実行して比べる方式に変えた。</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④ 何度も実行して比べる方式に変えた</a:t>
            </a:r>
          </a:p>
        </p:txBody>
      </p:sp>
      <p:sp>
        <p:nvSpPr>
          <p:cNvPr id="5" name="Rectangle 4"/>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007999"/>
            <a:ext cx="11088000" cy="792000"/>
          </a:xfrm>
          <a:prstGeom prst="rect">
            <a:avLst/>
          </a:prstGeom>
          <a:noFill/>
        </p:spPr>
        <p:txBody>
          <a:bodyPr wrap="square">
            <a:spAutoFit/>
          </a:bodyPr>
          <a:lstStyle/>
          <a:p>
            <a:pPr algn="l"/>
            <a:r>
              <a:rPr sz="1500" b="0">
                <a:solidFill>
                  <a:srgbClr val="1E293B"/>
                </a:solidFill>
                <a:latin typeface="游ゴシック"/>
              </a:rPr>
              <a:t>同じプログラムでも、車の動きに使う初期値（乱数の設定）が変わると、結果が大きく変わることがわかった。</a:t>
            </a:r>
          </a:p>
          <a:p>
            <a:pPr algn="l"/>
            <a:r>
              <a:rPr sz="1500" b="0">
                <a:solidFill>
                  <a:srgbClr val="1E293B"/>
                </a:solidFill>
                <a:latin typeface="游ゴシック"/>
              </a:rPr>
              <a:t>そこで、結果を見てから回数を増やしたり減らしたりすることを禁止し、次の回数を事前に決めて実行した。</a:t>
            </a:r>
          </a:p>
        </p:txBody>
      </p:sp>
      <p:sp>
        <p:nvSpPr>
          <p:cNvPr id="7" name="Rectangle 6"/>
          <p:cNvSpPr/>
          <p:nvPr/>
        </p:nvSpPr>
        <p:spPr>
          <a:xfrm>
            <a:off x="936000" y="2268000"/>
            <a:ext cx="2015999" cy="1440000"/>
          </a:xfrm>
          <a:prstGeom prst="rect">
            <a:avLst/>
          </a:prstGeom>
          <a:solidFill>
            <a:srgbClr val="FFFFFF"/>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8000" y="2412000"/>
            <a:ext cx="1872000" cy="360000"/>
          </a:xfrm>
          <a:prstGeom prst="rect">
            <a:avLst/>
          </a:prstGeom>
          <a:noFill/>
        </p:spPr>
        <p:txBody>
          <a:bodyPr wrap="square">
            <a:spAutoFit/>
          </a:bodyPr>
          <a:lstStyle/>
          <a:p>
            <a:pPr algn="ctr"/>
            <a:r>
              <a:rPr sz="1600" b="1">
                <a:solidFill>
                  <a:srgbClr val="1E40AF"/>
                </a:solidFill>
                <a:latin typeface="游ゴシック"/>
              </a:rPr>
              <a:t>バスなし</a:t>
            </a:r>
          </a:p>
        </p:txBody>
      </p:sp>
      <p:sp>
        <p:nvSpPr>
          <p:cNvPr id="9" name="TextBox 8"/>
          <p:cNvSpPr txBox="1"/>
          <p:nvPr/>
        </p:nvSpPr>
        <p:spPr>
          <a:xfrm>
            <a:off x="1008000" y="2880000"/>
            <a:ext cx="1872000" cy="648000"/>
          </a:xfrm>
          <a:prstGeom prst="rect">
            <a:avLst/>
          </a:prstGeom>
          <a:noFill/>
        </p:spPr>
        <p:txBody>
          <a:bodyPr wrap="square">
            <a:spAutoFit/>
          </a:bodyPr>
          <a:lstStyle/>
          <a:p>
            <a:pPr algn="ctr"/>
            <a:r>
              <a:rPr sz="3000" b="1">
                <a:solidFill>
                  <a:srgbClr val="1E40AF"/>
                </a:solidFill>
                <a:latin typeface="游ゴシック"/>
              </a:rPr>
              <a:t>3回</a:t>
            </a:r>
          </a:p>
        </p:txBody>
      </p:sp>
      <p:sp>
        <p:nvSpPr>
          <p:cNvPr id="10" name="TextBox 9"/>
          <p:cNvSpPr txBox="1"/>
          <p:nvPr/>
        </p:nvSpPr>
        <p:spPr>
          <a:xfrm>
            <a:off x="3096000" y="2628000"/>
            <a:ext cx="540000" cy="720000"/>
          </a:xfrm>
          <a:prstGeom prst="rect">
            <a:avLst/>
          </a:prstGeom>
          <a:noFill/>
        </p:spPr>
        <p:txBody>
          <a:bodyPr wrap="square">
            <a:spAutoFit/>
          </a:bodyPr>
          <a:lstStyle/>
          <a:p>
            <a:pPr algn="ctr"/>
            <a:r>
              <a:rPr sz="2800" b="1">
                <a:solidFill>
                  <a:srgbClr val="64748B"/>
                </a:solidFill>
                <a:latin typeface="游ゴシック"/>
              </a:rPr>
              <a:t>×</a:t>
            </a:r>
          </a:p>
        </p:txBody>
      </p:sp>
      <p:sp>
        <p:nvSpPr>
          <p:cNvPr id="11" name="Rectangle 10"/>
          <p:cNvSpPr/>
          <p:nvPr/>
        </p:nvSpPr>
        <p:spPr>
          <a:xfrm>
            <a:off x="3707999" y="2268000"/>
            <a:ext cx="2015999" cy="144000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79999" y="2412000"/>
            <a:ext cx="1872000" cy="360000"/>
          </a:xfrm>
          <a:prstGeom prst="rect">
            <a:avLst/>
          </a:prstGeom>
          <a:noFill/>
        </p:spPr>
        <p:txBody>
          <a:bodyPr wrap="square">
            <a:spAutoFit/>
          </a:bodyPr>
          <a:lstStyle/>
          <a:p>
            <a:pPr algn="ctr"/>
            <a:r>
              <a:rPr sz="1600" b="1">
                <a:solidFill>
                  <a:srgbClr val="2563EB"/>
                </a:solidFill>
                <a:latin typeface="游ゴシック"/>
              </a:rPr>
              <a:t>バスあり</a:t>
            </a:r>
          </a:p>
        </p:txBody>
      </p:sp>
      <p:sp>
        <p:nvSpPr>
          <p:cNvPr id="13" name="TextBox 12"/>
          <p:cNvSpPr txBox="1"/>
          <p:nvPr/>
        </p:nvSpPr>
        <p:spPr>
          <a:xfrm>
            <a:off x="3779999" y="2880000"/>
            <a:ext cx="1872000" cy="648000"/>
          </a:xfrm>
          <a:prstGeom prst="rect">
            <a:avLst/>
          </a:prstGeom>
          <a:noFill/>
        </p:spPr>
        <p:txBody>
          <a:bodyPr wrap="square">
            <a:spAutoFit/>
          </a:bodyPr>
          <a:lstStyle/>
          <a:p>
            <a:pPr algn="ctr"/>
            <a:r>
              <a:rPr sz="3000" b="1">
                <a:solidFill>
                  <a:srgbClr val="2563EB"/>
                </a:solidFill>
                <a:latin typeface="游ゴシック"/>
              </a:rPr>
              <a:t>5回</a:t>
            </a:r>
          </a:p>
        </p:txBody>
      </p:sp>
      <p:sp>
        <p:nvSpPr>
          <p:cNvPr id="14" name="TextBox 13"/>
          <p:cNvSpPr txBox="1"/>
          <p:nvPr/>
        </p:nvSpPr>
        <p:spPr>
          <a:xfrm>
            <a:off x="5867999" y="2628000"/>
            <a:ext cx="540000" cy="720000"/>
          </a:xfrm>
          <a:prstGeom prst="rect">
            <a:avLst/>
          </a:prstGeom>
          <a:noFill/>
        </p:spPr>
        <p:txBody>
          <a:bodyPr wrap="square">
            <a:spAutoFit/>
          </a:bodyPr>
          <a:lstStyle/>
          <a:p>
            <a:pPr algn="ctr"/>
            <a:r>
              <a:rPr sz="2800" b="1">
                <a:solidFill>
                  <a:srgbClr val="64748B"/>
                </a:solidFill>
                <a:latin typeface="游ゴシック"/>
              </a:rPr>
              <a:t>＝</a:t>
            </a:r>
          </a:p>
        </p:txBody>
      </p:sp>
      <p:sp>
        <p:nvSpPr>
          <p:cNvPr id="15" name="Rectangle 14"/>
          <p:cNvSpPr/>
          <p:nvPr/>
        </p:nvSpPr>
        <p:spPr>
          <a:xfrm>
            <a:off x="6479999" y="2268000"/>
            <a:ext cx="2015999" cy="1440000"/>
          </a:xfrm>
          <a:prstGeom prst="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1999" y="2412000"/>
            <a:ext cx="1872000" cy="360000"/>
          </a:xfrm>
          <a:prstGeom prst="rect">
            <a:avLst/>
          </a:prstGeom>
          <a:noFill/>
        </p:spPr>
        <p:txBody>
          <a:bodyPr wrap="square">
            <a:spAutoFit/>
          </a:bodyPr>
          <a:lstStyle/>
          <a:p>
            <a:pPr algn="ctr"/>
            <a:r>
              <a:rPr sz="1600" b="1">
                <a:solidFill>
                  <a:srgbClr val="F59E0B"/>
                </a:solidFill>
                <a:latin typeface="游ゴシック"/>
              </a:rPr>
              <a:t>比較の組み合わせ</a:t>
            </a:r>
          </a:p>
        </p:txBody>
      </p:sp>
      <p:sp>
        <p:nvSpPr>
          <p:cNvPr id="17" name="TextBox 16"/>
          <p:cNvSpPr txBox="1"/>
          <p:nvPr/>
        </p:nvSpPr>
        <p:spPr>
          <a:xfrm>
            <a:off x="6551999" y="2880000"/>
            <a:ext cx="1872000" cy="648000"/>
          </a:xfrm>
          <a:prstGeom prst="rect">
            <a:avLst/>
          </a:prstGeom>
          <a:noFill/>
        </p:spPr>
        <p:txBody>
          <a:bodyPr wrap="square">
            <a:spAutoFit/>
          </a:bodyPr>
          <a:lstStyle/>
          <a:p>
            <a:pPr algn="ctr"/>
            <a:r>
              <a:rPr sz="3000" b="1">
                <a:solidFill>
                  <a:srgbClr val="F59E0B"/>
                </a:solidFill>
                <a:latin typeface="游ゴシック"/>
              </a:rPr>
              <a:t>15通り</a:t>
            </a:r>
          </a:p>
        </p:txBody>
      </p:sp>
      <p:sp>
        <p:nvSpPr>
          <p:cNvPr id="18" name="Rectangle 17"/>
          <p:cNvSpPr/>
          <p:nvPr/>
        </p:nvSpPr>
        <p:spPr>
          <a:xfrm>
            <a:off x="360000" y="4392000"/>
            <a:ext cx="11473200" cy="1980000"/>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0000" y="4500000"/>
            <a:ext cx="11088000" cy="288000"/>
          </a:xfrm>
          <a:prstGeom prst="rect">
            <a:avLst/>
          </a:prstGeom>
          <a:noFill/>
        </p:spPr>
        <p:txBody>
          <a:bodyPr wrap="square">
            <a:spAutoFit/>
          </a:bodyPr>
          <a:lstStyle/>
          <a:p>
            <a:pPr algn="l"/>
            <a:r>
              <a:rPr sz="1500" b="1">
                <a:solidFill>
                  <a:srgbClr val="1E40AF"/>
                </a:solidFill>
                <a:latin typeface="游ゴシック"/>
              </a:rPr>
              <a:t>あとから確認できるようにした工夫</a:t>
            </a:r>
          </a:p>
        </p:txBody>
      </p:sp>
      <p:sp>
        <p:nvSpPr>
          <p:cNvPr id="20" name="TextBox 19"/>
          <p:cNvSpPr txBox="1"/>
          <p:nvPr/>
        </p:nvSpPr>
        <p:spPr>
          <a:xfrm>
            <a:off x="540000" y="4824000"/>
            <a:ext cx="10980000" cy="1440000"/>
          </a:xfrm>
          <a:prstGeom prst="rect">
            <a:avLst/>
          </a:prstGeom>
          <a:noFill/>
        </p:spPr>
        <p:txBody>
          <a:bodyPr wrap="square">
            <a:spAutoFit/>
          </a:bodyPr>
          <a:lstStyle/>
          <a:p>
            <a:pPr>
              <a:spcBef>
                <a:spcPts val="600"/>
              </a:spcBef>
            </a:pPr>
            <a:r>
              <a:rPr sz="1450">
                <a:solidFill>
                  <a:srgbClr val="1E293B"/>
                </a:solidFill>
                <a:latin typeface="游ゴシック"/>
              </a:rPr>
              <a:t>・ 使った道路データは、作り直しの手順ごと毎回保存した</a:t>
            </a:r>
          </a:p>
          <a:p>
            <a:pPr>
              <a:spcBef>
                <a:spcPts val="600"/>
              </a:spcBef>
            </a:pPr>
            <a:r>
              <a:rPr sz="1450">
                <a:solidFill>
                  <a:srgbClr val="1E293B"/>
                </a:solidFill>
                <a:latin typeface="游ゴシック"/>
              </a:rPr>
              <a:t>・ 乱数の設定も、実行する前に決めておいた</a:t>
            </a:r>
          </a:p>
          <a:p>
            <a:pPr>
              <a:spcBef>
                <a:spcPts val="600"/>
              </a:spcBef>
            </a:pPr>
            <a:r>
              <a:rPr sz="1450">
                <a:solidFill>
                  <a:srgbClr val="1E293B"/>
                </a:solidFill>
                <a:latin typeface="游ゴシック"/>
              </a:rPr>
              <a:t>・ 実行した記録・乱数の設定・使った道路データ・車の数を、すべて保存する仕組みを整えた</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④ 実行した結果（表）</a:t>
            </a:r>
          </a:p>
        </p:txBody>
      </p:sp>
      <p:sp>
        <p:nvSpPr>
          <p:cNvPr id="5" name="Rectangle 4"/>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972000"/>
            <a:ext cx="5400000" cy="251999"/>
          </a:xfrm>
          <a:prstGeom prst="rect">
            <a:avLst/>
          </a:prstGeom>
          <a:noFill/>
        </p:spPr>
        <p:txBody>
          <a:bodyPr wrap="square">
            <a:spAutoFit/>
          </a:bodyPr>
          <a:lstStyle/>
          <a:p>
            <a:pPr algn="l"/>
            <a:r>
              <a:rPr sz="1500" b="1">
                <a:solidFill>
                  <a:srgbClr val="1E40AF"/>
                </a:solidFill>
                <a:latin typeface="游ゴシック"/>
              </a:rPr>
              <a:t>バスなし（3回）</a:t>
            </a:r>
          </a:p>
        </p:txBody>
      </p:sp>
      <p:graphicFrame>
        <p:nvGraphicFramePr>
          <p:cNvPr id="7" name="Table 6"/>
          <p:cNvGraphicFramePr>
            <a:graphicFrameLocks noGrp="1"/>
          </p:cNvGraphicFramePr>
          <p:nvPr/>
        </p:nvGraphicFramePr>
        <p:xfrm>
          <a:off x="540000" y="1260000"/>
          <a:ext cx="5400000" cy="200316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1440000">
                  <a:extLst>
                    <a:ext uri="{9D8B030D-6E8A-4147-A177-3AD203B41FA5}">
                      <a16:colId xmlns:a16="http://schemas.microsoft.com/office/drawing/2014/main" val="20003"/>
                    </a:ext>
                  </a:extLst>
                </a:gridCol>
              </a:tblGrid>
              <a:tr h="495000">
                <a:tc>
                  <a:txBody>
                    <a:bodyPr/>
                    <a:lstStyle/>
                    <a:p>
                      <a:pPr algn="ctr"/>
                      <a:r>
                        <a:rPr sz="1400" b="1">
                          <a:solidFill>
                            <a:srgbClr val="FFFFFF"/>
                          </a:solidFill>
                          <a:latin typeface="游ゴシック"/>
                        </a:rPr>
                        <a:t>回</a:t>
                      </a:r>
                    </a:p>
                  </a:txBody>
                  <a:tcPr>
                    <a:solidFill>
                      <a:srgbClr val="1E40AF"/>
                    </a:solidFill>
                  </a:tcPr>
                </a:tc>
                <a:tc>
                  <a:txBody>
                    <a:bodyPr/>
                    <a:lstStyle/>
                    <a:p>
                      <a:pPr algn="ctr"/>
                      <a:r>
                        <a:rPr sz="1400" b="1">
                          <a:solidFill>
                            <a:srgbClr val="FFFFFF"/>
                          </a:solidFill>
                          <a:latin typeface="游ゴシック"/>
                        </a:rPr>
                        <a:t>到着台数</a:t>
                      </a:r>
                    </a:p>
                  </a:txBody>
                  <a:tcPr>
                    <a:solidFill>
                      <a:srgbClr val="1E40AF"/>
                    </a:solidFill>
                  </a:tcPr>
                </a:tc>
                <a:tc>
                  <a:txBody>
                    <a:bodyPr/>
                    <a:lstStyle/>
                    <a:p>
                      <a:pPr algn="ctr"/>
                      <a:r>
                        <a:rPr sz="1400" b="1">
                          <a:solidFill>
                            <a:srgbClr val="FFFFFF"/>
                          </a:solidFill>
                          <a:latin typeface="游ゴシック"/>
                        </a:rPr>
                        <a:t>未到着台数</a:t>
                      </a:r>
                    </a:p>
                  </a:txBody>
                  <a:tcPr>
                    <a:solidFill>
                      <a:srgbClr val="1E40AF"/>
                    </a:solidFill>
                  </a:tcPr>
                </a:tc>
                <a:tc>
                  <a:txBody>
                    <a:bodyPr/>
                    <a:lstStyle/>
                    <a:p>
                      <a:pPr algn="ctr"/>
                      <a:r>
                        <a:rPr sz="1400" b="1">
                          <a:solidFill>
                            <a:srgbClr val="FFFFFF"/>
                          </a:solidFill>
                          <a:latin typeface="游ゴシック"/>
                        </a:rPr>
                        <a:t>到着できた割合※</a:t>
                      </a:r>
                    </a:p>
                  </a:txBody>
                  <a:tcPr>
                    <a:solidFill>
                      <a:srgbClr val="1E40AF"/>
                    </a:solidFill>
                  </a:tcPr>
                </a:tc>
                <a:extLst>
                  <a:ext uri="{0D108BD9-81ED-4DB2-BD59-A6C34878D82A}">
                    <a16:rowId xmlns:a16="http://schemas.microsoft.com/office/drawing/2014/main" val="10000"/>
                  </a:ext>
                </a:extLst>
              </a:tr>
              <a:tr h="495000">
                <a:tc>
                  <a:txBody>
                    <a:bodyPr/>
                    <a:lstStyle/>
                    <a:p>
                      <a:pPr algn="ctr"/>
                      <a:r>
                        <a:rPr sz="1400">
                          <a:latin typeface="游ゴシック"/>
                        </a:rPr>
                        <a:t>1回目</a:t>
                      </a:r>
                    </a:p>
                  </a:txBody>
                  <a:tcPr/>
                </a:tc>
                <a:tc>
                  <a:txBody>
                    <a:bodyPr/>
                    <a:lstStyle/>
                    <a:p>
                      <a:pPr algn="ctr"/>
                      <a:r>
                        <a:rPr sz="1400">
                          <a:latin typeface="游ゴシック"/>
                        </a:rPr>
                        <a:t>9,090台</a:t>
                      </a:r>
                    </a:p>
                  </a:txBody>
                  <a:tcPr/>
                </a:tc>
                <a:tc>
                  <a:txBody>
                    <a:bodyPr/>
                    <a:lstStyle/>
                    <a:p>
                      <a:pPr algn="ctr"/>
                      <a:r>
                        <a:rPr sz="1400">
                          <a:latin typeface="游ゴシック"/>
                        </a:rPr>
                        <a:t>479台</a:t>
                      </a:r>
                    </a:p>
                  </a:txBody>
                  <a:tcPr/>
                </a:tc>
                <a:tc>
                  <a:txBody>
                    <a:bodyPr/>
                    <a:lstStyle/>
                    <a:p>
                      <a:pPr algn="ctr"/>
                      <a:r>
                        <a:rPr sz="1400">
                          <a:latin typeface="游ゴシック"/>
                        </a:rPr>
                        <a:t>95.44%</a:t>
                      </a:r>
                    </a:p>
                  </a:txBody>
                  <a:tcPr/>
                </a:tc>
                <a:extLst>
                  <a:ext uri="{0D108BD9-81ED-4DB2-BD59-A6C34878D82A}">
                    <a16:rowId xmlns:a16="http://schemas.microsoft.com/office/drawing/2014/main" val="10001"/>
                  </a:ext>
                </a:extLst>
              </a:tr>
              <a:tr h="495000">
                <a:tc>
                  <a:txBody>
                    <a:bodyPr/>
                    <a:lstStyle/>
                    <a:p>
                      <a:pPr algn="ctr"/>
                      <a:r>
                        <a:rPr sz="1400">
                          <a:latin typeface="游ゴシック"/>
                        </a:rPr>
                        <a:t>2回目</a:t>
                      </a:r>
                    </a:p>
                  </a:txBody>
                  <a:tcPr>
                    <a:solidFill>
                      <a:srgbClr val="DBEAFE"/>
                    </a:solidFill>
                  </a:tcPr>
                </a:tc>
                <a:tc>
                  <a:txBody>
                    <a:bodyPr/>
                    <a:lstStyle/>
                    <a:p>
                      <a:pPr algn="ctr"/>
                      <a:r>
                        <a:rPr sz="1400">
                          <a:latin typeface="游ゴシック"/>
                        </a:rPr>
                        <a:t>7,715台</a:t>
                      </a:r>
                    </a:p>
                  </a:txBody>
                  <a:tcPr>
                    <a:solidFill>
                      <a:srgbClr val="DBEAFE"/>
                    </a:solidFill>
                  </a:tcPr>
                </a:tc>
                <a:tc>
                  <a:txBody>
                    <a:bodyPr/>
                    <a:lstStyle/>
                    <a:p>
                      <a:pPr algn="ctr"/>
                      <a:r>
                        <a:rPr sz="1400">
                          <a:latin typeface="游ゴシック"/>
                        </a:rPr>
                        <a:t>1,854台</a:t>
                      </a:r>
                    </a:p>
                  </a:txBody>
                  <a:tcPr>
                    <a:solidFill>
                      <a:srgbClr val="DBEAFE"/>
                    </a:solidFill>
                  </a:tcPr>
                </a:tc>
                <a:tc>
                  <a:txBody>
                    <a:bodyPr/>
                    <a:lstStyle/>
                    <a:p>
                      <a:pPr algn="ctr"/>
                      <a:r>
                        <a:rPr sz="1400">
                          <a:latin typeface="游ゴシック"/>
                        </a:rPr>
                        <a:t>75.87%</a:t>
                      </a:r>
                    </a:p>
                  </a:txBody>
                  <a:tcPr>
                    <a:solidFill>
                      <a:srgbClr val="DBEAFE"/>
                    </a:solidFill>
                  </a:tcPr>
                </a:tc>
                <a:extLst>
                  <a:ext uri="{0D108BD9-81ED-4DB2-BD59-A6C34878D82A}">
                    <a16:rowId xmlns:a16="http://schemas.microsoft.com/office/drawing/2014/main" val="10002"/>
                  </a:ext>
                </a:extLst>
              </a:tr>
              <a:tr h="495000">
                <a:tc>
                  <a:txBody>
                    <a:bodyPr/>
                    <a:lstStyle/>
                    <a:p>
                      <a:pPr algn="ctr"/>
                      <a:r>
                        <a:rPr sz="1400">
                          <a:latin typeface="游ゴシック"/>
                        </a:rPr>
                        <a:t>3回目</a:t>
                      </a:r>
                    </a:p>
                  </a:txBody>
                  <a:tcPr/>
                </a:tc>
                <a:tc>
                  <a:txBody>
                    <a:bodyPr/>
                    <a:lstStyle/>
                    <a:p>
                      <a:pPr algn="ctr"/>
                      <a:r>
                        <a:rPr sz="1400">
                          <a:latin typeface="游ゴシック"/>
                        </a:rPr>
                        <a:t>9,119台</a:t>
                      </a:r>
                    </a:p>
                  </a:txBody>
                  <a:tcPr/>
                </a:tc>
                <a:tc>
                  <a:txBody>
                    <a:bodyPr/>
                    <a:lstStyle/>
                    <a:p>
                      <a:pPr algn="ctr"/>
                      <a:r>
                        <a:rPr sz="1400">
                          <a:latin typeface="游ゴシック"/>
                        </a:rPr>
                        <a:t>450台</a:t>
                      </a:r>
                    </a:p>
                  </a:txBody>
                  <a:tcPr/>
                </a:tc>
                <a:tc>
                  <a:txBody>
                    <a:bodyPr/>
                    <a:lstStyle/>
                    <a:p>
                      <a:pPr algn="ctr"/>
                      <a:r>
                        <a:rPr sz="1400">
                          <a:latin typeface="游ゴシック"/>
                        </a:rPr>
                        <a:t>96.01%</a:t>
                      </a:r>
                    </a:p>
                  </a:txBody>
                  <a:tcPr/>
                </a:tc>
                <a:extLst>
                  <a:ext uri="{0D108BD9-81ED-4DB2-BD59-A6C34878D82A}">
                    <a16:rowId xmlns:a16="http://schemas.microsoft.com/office/drawing/2014/main" val="10003"/>
                  </a:ext>
                </a:extLst>
              </a:tr>
            </a:tbl>
          </a:graphicData>
        </a:graphic>
      </p:graphicFrame>
      <p:sp>
        <p:nvSpPr>
          <p:cNvPr id="8" name="TextBox 7"/>
          <p:cNvSpPr txBox="1"/>
          <p:nvPr/>
        </p:nvSpPr>
        <p:spPr>
          <a:xfrm>
            <a:off x="6263999" y="972000"/>
            <a:ext cx="5400000" cy="251999"/>
          </a:xfrm>
          <a:prstGeom prst="rect">
            <a:avLst/>
          </a:prstGeom>
          <a:noFill/>
        </p:spPr>
        <p:txBody>
          <a:bodyPr wrap="square">
            <a:spAutoFit/>
          </a:bodyPr>
          <a:lstStyle/>
          <a:p>
            <a:pPr algn="l"/>
            <a:r>
              <a:rPr sz="1500" b="1">
                <a:solidFill>
                  <a:srgbClr val="1E40AF"/>
                </a:solidFill>
                <a:latin typeface="游ゴシック"/>
              </a:rPr>
              <a:t>バスあり（5回）</a:t>
            </a:r>
          </a:p>
        </p:txBody>
      </p:sp>
      <p:graphicFrame>
        <p:nvGraphicFramePr>
          <p:cNvPr id="9" name="Table 8"/>
          <p:cNvGraphicFramePr>
            <a:graphicFrameLocks noGrp="1"/>
          </p:cNvGraphicFramePr>
          <p:nvPr/>
        </p:nvGraphicFramePr>
        <p:xfrm>
          <a:off x="6263999" y="1260000"/>
          <a:ext cx="5580000" cy="23400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390000">
                <a:tc>
                  <a:txBody>
                    <a:bodyPr/>
                    <a:lstStyle/>
                    <a:p>
                      <a:pPr algn="ctr"/>
                      <a:r>
                        <a:rPr sz="1400" b="1">
                          <a:solidFill>
                            <a:srgbClr val="FFFFFF"/>
                          </a:solidFill>
                          <a:latin typeface="游ゴシック"/>
                        </a:rPr>
                        <a:t>回</a:t>
                      </a:r>
                    </a:p>
                  </a:txBody>
                  <a:tcPr>
                    <a:solidFill>
                      <a:srgbClr val="1E40AF"/>
                    </a:solidFill>
                  </a:tcPr>
                </a:tc>
                <a:tc>
                  <a:txBody>
                    <a:bodyPr/>
                    <a:lstStyle/>
                    <a:p>
                      <a:pPr algn="ctr"/>
                      <a:r>
                        <a:rPr sz="1400" b="1">
                          <a:solidFill>
                            <a:srgbClr val="FFFFFF"/>
                          </a:solidFill>
                          <a:latin typeface="游ゴシック"/>
                        </a:rPr>
                        <a:t>バスに乗って到着した人数</a:t>
                      </a:r>
                    </a:p>
                  </a:txBody>
                  <a:tcPr>
                    <a:solidFill>
                      <a:srgbClr val="1E40AF"/>
                    </a:solidFill>
                  </a:tcPr>
                </a:tc>
                <a:tc>
                  <a:txBody>
                    <a:bodyPr/>
                    <a:lstStyle/>
                    <a:p>
                      <a:pPr algn="ctr"/>
                      <a:r>
                        <a:rPr sz="1400" b="1">
                          <a:solidFill>
                            <a:srgbClr val="FFFFFF"/>
                          </a:solidFill>
                          <a:latin typeface="游ゴシック"/>
                        </a:rPr>
                        <a:t>到着できた割合※</a:t>
                      </a:r>
                    </a:p>
                  </a:txBody>
                  <a:tcPr>
                    <a:solidFill>
                      <a:srgbClr val="1E40AF"/>
                    </a:solidFill>
                  </a:tcPr>
                </a:tc>
                <a:extLst>
                  <a:ext uri="{0D108BD9-81ED-4DB2-BD59-A6C34878D82A}">
                    <a16:rowId xmlns:a16="http://schemas.microsoft.com/office/drawing/2014/main" val="10000"/>
                  </a:ext>
                </a:extLst>
              </a:tr>
              <a:tr h="390000">
                <a:tc>
                  <a:txBody>
                    <a:bodyPr/>
                    <a:lstStyle/>
                    <a:p>
                      <a:pPr algn="ctr"/>
                      <a:r>
                        <a:rPr sz="1400">
                          <a:latin typeface="游ゴシック"/>
                        </a:rPr>
                        <a:t>1回目</a:t>
                      </a:r>
                    </a:p>
                  </a:txBody>
                  <a:tcPr/>
                </a:tc>
                <a:tc>
                  <a:txBody>
                    <a:bodyPr/>
                    <a:lstStyle/>
                    <a:p>
                      <a:pPr algn="ctr"/>
                      <a:r>
                        <a:rPr sz="1400">
                          <a:latin typeface="游ゴシック"/>
                        </a:rPr>
                        <a:t>75人</a:t>
                      </a:r>
                    </a:p>
                  </a:txBody>
                  <a:tcPr/>
                </a:tc>
                <a:tc>
                  <a:txBody>
                    <a:bodyPr/>
                    <a:lstStyle/>
                    <a:p>
                      <a:pPr algn="ctr"/>
                      <a:r>
                        <a:rPr sz="1400">
                          <a:latin typeface="游ゴシック"/>
                        </a:rPr>
                        <a:t>92.93%</a:t>
                      </a:r>
                    </a:p>
                  </a:txBody>
                  <a:tcPr/>
                </a:tc>
                <a:extLst>
                  <a:ext uri="{0D108BD9-81ED-4DB2-BD59-A6C34878D82A}">
                    <a16:rowId xmlns:a16="http://schemas.microsoft.com/office/drawing/2014/main" val="10001"/>
                  </a:ext>
                </a:extLst>
              </a:tr>
              <a:tr h="390000">
                <a:tc>
                  <a:txBody>
                    <a:bodyPr/>
                    <a:lstStyle/>
                    <a:p>
                      <a:pPr algn="ctr"/>
                      <a:r>
                        <a:rPr sz="1400">
                          <a:latin typeface="游ゴシック"/>
                        </a:rPr>
                        <a:t>2回目</a:t>
                      </a:r>
                    </a:p>
                  </a:txBody>
                  <a:tcPr>
                    <a:solidFill>
                      <a:srgbClr val="DBEAFE"/>
                    </a:solidFill>
                  </a:tcPr>
                </a:tc>
                <a:tc>
                  <a:txBody>
                    <a:bodyPr/>
                    <a:lstStyle/>
                    <a:p>
                      <a:pPr algn="ctr"/>
                      <a:r>
                        <a:rPr sz="1400">
                          <a:latin typeface="游ゴシック"/>
                        </a:rPr>
                        <a:t>125人</a:t>
                      </a:r>
                    </a:p>
                  </a:txBody>
                  <a:tcPr>
                    <a:solidFill>
                      <a:srgbClr val="DBEAFE"/>
                    </a:solidFill>
                  </a:tcPr>
                </a:tc>
                <a:tc>
                  <a:txBody>
                    <a:bodyPr/>
                    <a:lstStyle/>
                    <a:p>
                      <a:pPr algn="ctr"/>
                      <a:r>
                        <a:rPr sz="1400">
                          <a:latin typeface="游ゴシック"/>
                        </a:rPr>
                        <a:t>96.68%</a:t>
                      </a:r>
                    </a:p>
                  </a:txBody>
                  <a:tcPr>
                    <a:solidFill>
                      <a:srgbClr val="DBEAFE"/>
                    </a:solidFill>
                  </a:tcPr>
                </a:tc>
                <a:extLst>
                  <a:ext uri="{0D108BD9-81ED-4DB2-BD59-A6C34878D82A}">
                    <a16:rowId xmlns:a16="http://schemas.microsoft.com/office/drawing/2014/main" val="10002"/>
                  </a:ext>
                </a:extLst>
              </a:tr>
              <a:tr h="390000">
                <a:tc>
                  <a:txBody>
                    <a:bodyPr/>
                    <a:lstStyle/>
                    <a:p>
                      <a:pPr algn="ctr"/>
                      <a:r>
                        <a:rPr sz="1400">
                          <a:latin typeface="游ゴシック"/>
                        </a:rPr>
                        <a:t>3回目</a:t>
                      </a:r>
                    </a:p>
                  </a:txBody>
                  <a:tcPr/>
                </a:tc>
                <a:tc>
                  <a:txBody>
                    <a:bodyPr/>
                    <a:lstStyle/>
                    <a:p>
                      <a:pPr algn="ctr"/>
                      <a:r>
                        <a:rPr sz="1400">
                          <a:latin typeface="游ゴシック"/>
                        </a:rPr>
                        <a:t>122人</a:t>
                      </a:r>
                    </a:p>
                  </a:txBody>
                  <a:tcPr/>
                </a:tc>
                <a:tc>
                  <a:txBody>
                    <a:bodyPr/>
                    <a:lstStyle/>
                    <a:p>
                      <a:pPr algn="ctr"/>
                      <a:r>
                        <a:rPr sz="1400">
                          <a:latin typeface="游ゴシック"/>
                        </a:rPr>
                        <a:t>96.16%</a:t>
                      </a:r>
                    </a:p>
                  </a:txBody>
                  <a:tcPr/>
                </a:tc>
                <a:extLst>
                  <a:ext uri="{0D108BD9-81ED-4DB2-BD59-A6C34878D82A}">
                    <a16:rowId xmlns:a16="http://schemas.microsoft.com/office/drawing/2014/main" val="10003"/>
                  </a:ext>
                </a:extLst>
              </a:tr>
              <a:tr h="390000">
                <a:tc>
                  <a:txBody>
                    <a:bodyPr/>
                    <a:lstStyle/>
                    <a:p>
                      <a:pPr algn="ctr"/>
                      <a:r>
                        <a:rPr sz="1400">
                          <a:latin typeface="游ゴシック"/>
                        </a:rPr>
                        <a:t>4回目</a:t>
                      </a:r>
                    </a:p>
                  </a:txBody>
                  <a:tcPr>
                    <a:solidFill>
                      <a:srgbClr val="DBEAFE"/>
                    </a:solidFill>
                  </a:tcPr>
                </a:tc>
                <a:tc>
                  <a:txBody>
                    <a:bodyPr/>
                    <a:lstStyle/>
                    <a:p>
                      <a:pPr algn="ctr"/>
                      <a:r>
                        <a:rPr sz="1400">
                          <a:latin typeface="游ゴシック"/>
                        </a:rPr>
                        <a:t>125人</a:t>
                      </a:r>
                    </a:p>
                  </a:txBody>
                  <a:tcPr>
                    <a:solidFill>
                      <a:srgbClr val="DBEAFE"/>
                    </a:solidFill>
                  </a:tcPr>
                </a:tc>
                <a:tc>
                  <a:txBody>
                    <a:bodyPr/>
                    <a:lstStyle/>
                    <a:p>
                      <a:pPr algn="ctr"/>
                      <a:r>
                        <a:rPr sz="1400">
                          <a:latin typeface="游ゴシック"/>
                        </a:rPr>
                        <a:t>98.53%</a:t>
                      </a:r>
                    </a:p>
                  </a:txBody>
                  <a:tcPr>
                    <a:solidFill>
                      <a:srgbClr val="DBEAFE"/>
                    </a:solidFill>
                  </a:tcPr>
                </a:tc>
                <a:extLst>
                  <a:ext uri="{0D108BD9-81ED-4DB2-BD59-A6C34878D82A}">
                    <a16:rowId xmlns:a16="http://schemas.microsoft.com/office/drawing/2014/main" val="10004"/>
                  </a:ext>
                </a:extLst>
              </a:tr>
              <a:tr h="390000">
                <a:tc>
                  <a:txBody>
                    <a:bodyPr/>
                    <a:lstStyle/>
                    <a:p>
                      <a:pPr algn="ctr"/>
                      <a:r>
                        <a:rPr sz="1400">
                          <a:latin typeface="游ゴシック"/>
                        </a:rPr>
                        <a:t>5回目</a:t>
                      </a:r>
                    </a:p>
                  </a:txBody>
                  <a:tcPr/>
                </a:tc>
                <a:tc>
                  <a:txBody>
                    <a:bodyPr/>
                    <a:lstStyle/>
                    <a:p>
                      <a:pPr algn="ctr"/>
                      <a:r>
                        <a:rPr sz="1400">
                          <a:latin typeface="游ゴシック"/>
                        </a:rPr>
                        <a:t>165人</a:t>
                      </a:r>
                    </a:p>
                  </a:txBody>
                  <a:tcPr/>
                </a:tc>
                <a:tc>
                  <a:txBody>
                    <a:bodyPr/>
                    <a:lstStyle/>
                    <a:p>
                      <a:pPr algn="ctr"/>
                      <a:r>
                        <a:rPr sz="1400">
                          <a:latin typeface="游ゴシック"/>
                        </a:rPr>
                        <a:t>98.84%</a:t>
                      </a:r>
                    </a:p>
                  </a:txBody>
                  <a:tcPr/>
                </a:tc>
                <a:extLst>
                  <a:ext uri="{0D108BD9-81ED-4DB2-BD59-A6C34878D82A}">
                    <a16:rowId xmlns:a16="http://schemas.microsoft.com/office/drawing/2014/main" val="10005"/>
                  </a:ext>
                </a:extLst>
              </a:tr>
            </a:tbl>
          </a:graphicData>
        </a:graphic>
      </p:graphicFrame>
      <p:sp>
        <p:nvSpPr>
          <p:cNvPr id="10" name="Rectangle 9"/>
          <p:cNvSpPr/>
          <p:nvPr/>
        </p:nvSpPr>
        <p:spPr>
          <a:xfrm>
            <a:off x="360000" y="4572000"/>
            <a:ext cx="11473200" cy="1692000"/>
          </a:xfrm>
          <a:prstGeom prst="rect">
            <a:avLst/>
          </a:prstGeom>
          <a:solidFill>
            <a:srgbClr val="FEF3C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0000" y="4680000"/>
            <a:ext cx="11088000" cy="288000"/>
          </a:xfrm>
          <a:prstGeom prst="rect">
            <a:avLst/>
          </a:prstGeom>
          <a:noFill/>
        </p:spPr>
        <p:txBody>
          <a:bodyPr wrap="square">
            <a:spAutoFit/>
          </a:bodyPr>
          <a:lstStyle/>
          <a:p>
            <a:pPr algn="l"/>
            <a:r>
              <a:rPr sz="1500" b="1">
                <a:solidFill>
                  <a:srgbClr val="F59E0B"/>
                </a:solidFill>
                <a:latin typeface="游ゴシック"/>
              </a:rPr>
              <a:t>結果の読み方の注意</a:t>
            </a:r>
          </a:p>
        </p:txBody>
      </p:sp>
      <p:sp>
        <p:nvSpPr>
          <p:cNvPr id="12" name="TextBox 11"/>
          <p:cNvSpPr txBox="1"/>
          <p:nvPr/>
        </p:nvSpPr>
        <p:spPr>
          <a:xfrm>
            <a:off x="540000" y="4968000"/>
            <a:ext cx="11088000" cy="1188000"/>
          </a:xfrm>
          <a:prstGeom prst="rect">
            <a:avLst/>
          </a:prstGeom>
          <a:noFill/>
        </p:spPr>
        <p:txBody>
          <a:bodyPr wrap="square">
            <a:spAutoFit/>
          </a:bodyPr>
          <a:lstStyle/>
          <a:p>
            <a:pPr algn="l"/>
            <a:r>
              <a:rPr sz="1400" b="0">
                <a:solidFill>
                  <a:srgbClr val="1E293B"/>
                </a:solidFill>
                <a:latin typeface="游ゴシック"/>
              </a:rPr>
              <a:t>すべての回で、入れた車の数と到着・未到着として数えた車の数が一致しており、数え間違いはなかった。</a:t>
            </a:r>
          </a:p>
          <a:p>
            <a:pPr algn="l"/>
            <a:r>
              <a:rPr sz="1400" b="0">
                <a:solidFill>
                  <a:srgbClr val="1E293B"/>
                </a:solidFill>
                <a:latin typeface="游ゴシック"/>
              </a:rPr>
              <a:t>バスなしの2回目は他の回より結果がかなり低いが、決めておいた条件を満たす正常な結果であり、除外していない。</a:t>
            </a:r>
          </a:p>
          <a:p>
            <a:pPr algn="l"/>
            <a:r>
              <a:rPr sz="1400" b="0">
                <a:solidFill>
                  <a:srgbClr val="1E293B"/>
                </a:solidFill>
                <a:latin typeface="游ゴシック"/>
              </a:rPr>
              <a:t>実行するたびに結果が大きく変わることがわかった。ただし回数が少ないため、「結果が2種類にはっきり分かれる」とまでは言えない。</a:t>
            </a:r>
          </a:p>
        </p:txBody>
      </p:sp>
      <p:sp>
        <p:nvSpPr>
          <p:cNvPr id="13" name="TextBox 12"/>
          <p:cNvSpPr txBox="1"/>
          <p:nvPr/>
        </p:nvSpPr>
        <p:spPr>
          <a:xfrm>
            <a:off x="360000" y="6336000"/>
            <a:ext cx="11473200" cy="251999"/>
          </a:xfrm>
          <a:prstGeom prst="rect">
            <a:avLst/>
          </a:prstGeom>
          <a:noFill/>
        </p:spPr>
        <p:txBody>
          <a:bodyPr wrap="square">
            <a:spAutoFit/>
          </a:bodyPr>
          <a:lstStyle/>
          <a:p>
            <a:pPr algn="l"/>
            <a:r>
              <a:rPr sz="1100" b="0">
                <a:solidFill>
                  <a:srgbClr val="64748B"/>
                </a:solidFill>
                <a:latin typeface="游ゴシック"/>
              </a:rPr>
              <a:t>※「到着できた割合」は、高齢者や車を持たない人（本研究では「Type3・Type4」と呼ぶグループ）を対象にした割合</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⑤ 比較した結果</a:t>
            </a:r>
          </a:p>
        </p:txBody>
      </p:sp>
      <p:sp>
        <p:nvSpPr>
          <p:cNvPr id="5" name="Rectangle 4"/>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360000" y="972000"/>
          <a:ext cx="11473199" cy="2245917"/>
        </p:xfrm>
        <a:graphic>
          <a:graphicData uri="http://schemas.openxmlformats.org/drawingml/2006/table">
            <a:tbl>
              <a:tblPr firstRow="1" bandRow="1">
                <a:tableStyleId>{5C22544A-7EE6-4342-B048-85BDC9FD1C3A}</a:tableStyleId>
              </a:tblPr>
              <a:tblGrid>
                <a:gridCol w="342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3013199">
                  <a:extLst>
                    <a:ext uri="{9D8B030D-6E8A-4147-A177-3AD203B41FA5}">
                      <a16:colId xmlns:a16="http://schemas.microsoft.com/office/drawing/2014/main" val="20002"/>
                    </a:ext>
                  </a:extLst>
                </a:gridCol>
                <a:gridCol w="2520000">
                  <a:extLst>
                    <a:ext uri="{9D8B030D-6E8A-4147-A177-3AD203B41FA5}">
                      <a16:colId xmlns:a16="http://schemas.microsoft.com/office/drawing/2014/main" val="20003"/>
                    </a:ext>
                  </a:extLst>
                </a:gridCol>
              </a:tblGrid>
              <a:tr h="403199">
                <a:tc>
                  <a:txBody>
                    <a:bodyPr/>
                    <a:lstStyle/>
                    <a:p>
                      <a:pPr algn="ctr"/>
                      <a:r>
                        <a:rPr sz="1400" b="1">
                          <a:solidFill>
                            <a:srgbClr val="FFFFFF"/>
                          </a:solidFill>
                          <a:latin typeface="游ゴシック"/>
                        </a:rPr>
                        <a:t>項目</a:t>
                      </a:r>
                    </a:p>
                  </a:txBody>
                  <a:tcPr>
                    <a:solidFill>
                      <a:srgbClr val="1E40AF"/>
                    </a:solidFill>
                  </a:tcPr>
                </a:tc>
                <a:tc>
                  <a:txBody>
                    <a:bodyPr/>
                    <a:lstStyle/>
                    <a:p>
                      <a:pPr algn="ctr"/>
                      <a:r>
                        <a:rPr sz="1400" b="1">
                          <a:solidFill>
                            <a:srgbClr val="FFFFFF"/>
                          </a:solidFill>
                          <a:latin typeface="游ゴシック"/>
                        </a:rPr>
                        <a:t>バスなし</a:t>
                      </a:r>
                    </a:p>
                  </a:txBody>
                  <a:tcPr>
                    <a:solidFill>
                      <a:srgbClr val="1E40AF"/>
                    </a:solidFill>
                  </a:tcPr>
                </a:tc>
                <a:tc>
                  <a:txBody>
                    <a:bodyPr/>
                    <a:lstStyle/>
                    <a:p>
                      <a:pPr algn="ctr"/>
                      <a:r>
                        <a:rPr sz="1400" b="1">
                          <a:solidFill>
                            <a:srgbClr val="FFFFFF"/>
                          </a:solidFill>
                          <a:latin typeface="游ゴシック"/>
                        </a:rPr>
                        <a:t>バスあり</a:t>
                      </a:r>
                    </a:p>
                  </a:txBody>
                  <a:tcPr>
                    <a:solidFill>
                      <a:srgbClr val="1E40AF"/>
                    </a:solidFill>
                  </a:tcPr>
                </a:tc>
                <a:tc>
                  <a:txBody>
                    <a:bodyPr/>
                    <a:lstStyle/>
                    <a:p>
                      <a:pPr algn="ctr"/>
                      <a:r>
                        <a:rPr sz="1400" b="1">
                          <a:solidFill>
                            <a:srgbClr val="FFFFFF"/>
                          </a:solidFill>
                          <a:latin typeface="游ゴシック"/>
                        </a:rPr>
                        <a:t>読み取り</a:t>
                      </a:r>
                    </a:p>
                  </a:txBody>
                  <a:tcPr>
                    <a:solidFill>
                      <a:srgbClr val="1E40AF"/>
                    </a:solidFill>
                  </a:tcPr>
                </a:tc>
                <a:extLst>
                  <a:ext uri="{0D108BD9-81ED-4DB2-BD59-A6C34878D82A}">
                    <a16:rowId xmlns:a16="http://schemas.microsoft.com/office/drawing/2014/main" val="10000"/>
                  </a:ext>
                </a:extLst>
              </a:tr>
              <a:tr h="403199">
                <a:tc>
                  <a:txBody>
                    <a:bodyPr/>
                    <a:lstStyle/>
                    <a:p>
                      <a:pPr algn="ctr"/>
                      <a:r>
                        <a:rPr sz="1400">
                          <a:latin typeface="游ゴシック"/>
                        </a:rPr>
                        <a:t>到着できた割合（代表的な値）※</a:t>
                      </a:r>
                    </a:p>
                  </a:txBody>
                  <a:tcPr/>
                </a:tc>
                <a:tc>
                  <a:txBody>
                    <a:bodyPr/>
                    <a:lstStyle/>
                    <a:p>
                      <a:pPr algn="ctr"/>
                      <a:r>
                        <a:rPr sz="1400">
                          <a:latin typeface="游ゴシック"/>
                        </a:rPr>
                        <a:t>95.44%</a:t>
                      </a:r>
                    </a:p>
                  </a:txBody>
                  <a:tcPr/>
                </a:tc>
                <a:tc>
                  <a:txBody>
                    <a:bodyPr/>
                    <a:lstStyle/>
                    <a:p>
                      <a:pPr algn="ctr"/>
                      <a:r>
                        <a:rPr sz="1400">
                          <a:latin typeface="游ゴシック"/>
                        </a:rPr>
                        <a:t>96.68%</a:t>
                      </a:r>
                    </a:p>
                  </a:txBody>
                  <a:tcPr/>
                </a:tc>
                <a:tc>
                  <a:txBody>
                    <a:bodyPr/>
                    <a:lstStyle/>
                    <a:p>
                      <a:pPr algn="ctr"/>
                      <a:r>
                        <a:rPr sz="1400">
                          <a:latin typeface="游ゴシック"/>
                        </a:rPr>
                        <a:t>バスありが約1.23ポイント高い</a:t>
                      </a:r>
                    </a:p>
                  </a:txBody>
                  <a:tcPr/>
                </a:tc>
                <a:extLst>
                  <a:ext uri="{0D108BD9-81ED-4DB2-BD59-A6C34878D82A}">
                    <a16:rowId xmlns:a16="http://schemas.microsoft.com/office/drawing/2014/main" val="10001"/>
                  </a:ext>
                </a:extLst>
              </a:tr>
              <a:tr h="403199">
                <a:tc>
                  <a:txBody>
                    <a:bodyPr/>
                    <a:lstStyle/>
                    <a:p>
                      <a:pPr algn="ctr"/>
                      <a:r>
                        <a:rPr sz="1400">
                          <a:latin typeface="游ゴシック"/>
                        </a:rPr>
                        <a:t>結果の範囲（最も低い〜高い回）</a:t>
                      </a:r>
                    </a:p>
                  </a:txBody>
                  <a:tcPr>
                    <a:solidFill>
                      <a:srgbClr val="DBEAFE"/>
                    </a:solidFill>
                  </a:tcPr>
                </a:tc>
                <a:tc>
                  <a:txBody>
                    <a:bodyPr/>
                    <a:lstStyle/>
                    <a:p>
                      <a:pPr algn="ctr"/>
                      <a:r>
                        <a:rPr sz="1400">
                          <a:latin typeface="游ゴシック"/>
                        </a:rPr>
                        <a:t>75.87〜96.01%</a:t>
                      </a:r>
                    </a:p>
                  </a:txBody>
                  <a:tcPr>
                    <a:solidFill>
                      <a:srgbClr val="DBEAFE"/>
                    </a:solidFill>
                  </a:tcPr>
                </a:tc>
                <a:tc>
                  <a:txBody>
                    <a:bodyPr/>
                    <a:lstStyle/>
                    <a:p>
                      <a:pPr algn="ctr"/>
                      <a:r>
                        <a:rPr sz="1400">
                          <a:latin typeface="游ゴシック"/>
                        </a:rPr>
                        <a:t>92.93〜98.84%</a:t>
                      </a:r>
                    </a:p>
                  </a:txBody>
                  <a:tcPr>
                    <a:solidFill>
                      <a:srgbClr val="DBEAFE"/>
                    </a:solidFill>
                  </a:tcPr>
                </a:tc>
                <a:tc>
                  <a:txBody>
                    <a:bodyPr/>
                    <a:lstStyle/>
                    <a:p>
                      <a:pPr algn="ctr"/>
                      <a:r>
                        <a:rPr sz="1400">
                          <a:latin typeface="游ゴシック"/>
                        </a:rPr>
                        <a:t>回によるばらつきが大きい</a:t>
                      </a:r>
                    </a:p>
                  </a:txBody>
                  <a:tcPr>
                    <a:solidFill>
                      <a:srgbClr val="DBEAFE"/>
                    </a:solidFill>
                  </a:tcPr>
                </a:tc>
                <a:extLst>
                  <a:ext uri="{0D108BD9-81ED-4DB2-BD59-A6C34878D82A}">
                    <a16:rowId xmlns:a16="http://schemas.microsoft.com/office/drawing/2014/main" val="10002"/>
                  </a:ext>
                </a:extLst>
              </a:tr>
              <a:tr h="403199">
                <a:tc>
                  <a:txBody>
                    <a:bodyPr/>
                    <a:lstStyle/>
                    <a:p>
                      <a:pPr algn="ctr"/>
                      <a:r>
                        <a:rPr sz="1400">
                          <a:latin typeface="游ゴシック"/>
                        </a:rPr>
                        <a:t>15通りの比較での差の範囲</a:t>
                      </a:r>
                    </a:p>
                  </a:txBody>
                  <a:tcPr/>
                </a:tc>
                <a:tc>
                  <a:txBody>
                    <a:bodyPr/>
                    <a:lstStyle/>
                    <a:p>
                      <a:pPr algn="ctr"/>
                      <a:r>
                        <a:rPr sz="1400">
                          <a:latin typeface="游ゴシック"/>
                        </a:rPr>
                        <a:t>―</a:t>
                      </a:r>
                    </a:p>
                  </a:txBody>
                  <a:tcPr/>
                </a:tc>
                <a:tc>
                  <a:txBody>
                    <a:bodyPr/>
                    <a:lstStyle/>
                    <a:p>
                      <a:pPr algn="ctr"/>
                      <a:r>
                        <a:rPr sz="1400">
                          <a:latin typeface="游ゴシック"/>
                        </a:rPr>
                        <a:t>−3.09〜+22.97ポイント</a:t>
                      </a:r>
                    </a:p>
                  </a:txBody>
                  <a:tcPr/>
                </a:tc>
                <a:tc>
                  <a:txBody>
                    <a:bodyPr/>
                    <a:lstStyle/>
                    <a:p>
                      <a:pPr algn="ctr"/>
                      <a:r>
                        <a:rPr sz="1400">
                          <a:latin typeface="游ゴシック"/>
                        </a:rPr>
                        <a:t>良い方にも悪い方にもふれる</a:t>
                      </a:r>
                    </a:p>
                  </a:txBody>
                  <a:tcPr/>
                </a:tc>
                <a:extLst>
                  <a:ext uri="{0D108BD9-81ED-4DB2-BD59-A6C34878D82A}">
                    <a16:rowId xmlns:a16="http://schemas.microsoft.com/office/drawing/2014/main" val="10003"/>
                  </a:ext>
                </a:extLst>
              </a:tr>
              <a:tr h="403203">
                <a:tc>
                  <a:txBody>
                    <a:bodyPr/>
                    <a:lstStyle/>
                    <a:p>
                      <a:pPr algn="ctr"/>
                      <a:r>
                        <a:rPr sz="1400">
                          <a:latin typeface="游ゴシック"/>
                        </a:rPr>
                        <a:t>バスありが良かった／悪かった数</a:t>
                      </a:r>
                    </a:p>
                  </a:txBody>
                  <a:tcPr>
                    <a:solidFill>
                      <a:srgbClr val="DBEAFE"/>
                    </a:solidFill>
                  </a:tcPr>
                </a:tc>
                <a:tc>
                  <a:txBody>
                    <a:bodyPr/>
                    <a:lstStyle/>
                    <a:p>
                      <a:pPr algn="ctr"/>
                      <a:r>
                        <a:rPr sz="1400">
                          <a:latin typeface="游ゴシック"/>
                        </a:rPr>
                        <a:t>―</a:t>
                      </a:r>
                    </a:p>
                  </a:txBody>
                  <a:tcPr>
                    <a:solidFill>
                      <a:srgbClr val="DBEAFE"/>
                    </a:solidFill>
                  </a:tcPr>
                </a:tc>
                <a:tc>
                  <a:txBody>
                    <a:bodyPr/>
                    <a:lstStyle/>
                    <a:p>
                      <a:pPr algn="ctr"/>
                      <a:r>
                        <a:rPr sz="1400">
                          <a:latin typeface="游ゴシック"/>
                        </a:rPr>
                        <a:t>13通り／2通り</a:t>
                      </a:r>
                    </a:p>
                  </a:txBody>
                  <a:tcPr>
                    <a:solidFill>
                      <a:srgbClr val="DBEAFE"/>
                    </a:solidFill>
                  </a:tcPr>
                </a:tc>
                <a:tc>
                  <a:txBody>
                    <a:bodyPr/>
                    <a:lstStyle/>
                    <a:p>
                      <a:pPr algn="ctr"/>
                      <a:r>
                        <a:rPr sz="1400">
                          <a:latin typeface="游ゴシック"/>
                        </a:rPr>
                        <a:t>全部の組み合わせでそろわない</a:t>
                      </a:r>
                    </a:p>
                  </a:txBody>
                  <a:tcPr>
                    <a:solidFill>
                      <a:srgbClr val="DBEAFE"/>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360000" y="3024000"/>
            <a:ext cx="11473200" cy="251999"/>
          </a:xfrm>
          <a:prstGeom prst="rect">
            <a:avLst/>
          </a:prstGeom>
          <a:noFill/>
        </p:spPr>
        <p:txBody>
          <a:bodyPr wrap="square">
            <a:spAutoFit/>
          </a:bodyPr>
          <a:lstStyle/>
          <a:p>
            <a:pPr algn="l"/>
            <a:r>
              <a:rPr sz="1100" b="0">
                <a:solidFill>
                  <a:srgbClr val="64748B"/>
                </a:solidFill>
                <a:latin typeface="游ゴシック"/>
              </a:rPr>
              <a:t>※「到着できた割合」は高齢者・車を持たない人を対象にした値。「代表的な値」は5回・3回のうち真ん中にくる値（中央値）を指す</a:t>
            </a:r>
          </a:p>
        </p:txBody>
      </p:sp>
      <p:sp>
        <p:nvSpPr>
          <p:cNvPr id="8" name="Rectangle 7"/>
          <p:cNvSpPr/>
          <p:nvPr/>
        </p:nvSpPr>
        <p:spPr>
          <a:xfrm>
            <a:off x="360000" y="3348000"/>
            <a:ext cx="11473200" cy="3240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0000" y="3456000"/>
            <a:ext cx="11088000" cy="324000"/>
          </a:xfrm>
          <a:prstGeom prst="rect">
            <a:avLst/>
          </a:prstGeom>
          <a:noFill/>
        </p:spPr>
        <p:txBody>
          <a:bodyPr wrap="square">
            <a:spAutoFit/>
          </a:bodyPr>
          <a:lstStyle/>
          <a:p>
            <a:pPr algn="ctr"/>
            <a:r>
              <a:rPr sz="1800" b="1">
                <a:solidFill>
                  <a:srgbClr val="FFFFFF"/>
                </a:solidFill>
                <a:latin typeface="游ゴシック"/>
              </a:rPr>
              <a:t>結論：良い・悪いをはっきり言える差ではなかった</a:t>
            </a:r>
          </a:p>
        </p:txBody>
      </p:sp>
      <p:sp>
        <p:nvSpPr>
          <p:cNvPr id="10" name="TextBox 9"/>
          <p:cNvSpPr txBox="1"/>
          <p:nvPr/>
        </p:nvSpPr>
        <p:spPr>
          <a:xfrm>
            <a:off x="720000" y="3888000"/>
            <a:ext cx="10764000" cy="792000"/>
          </a:xfrm>
          <a:prstGeom prst="rect">
            <a:avLst/>
          </a:prstGeom>
          <a:noFill/>
        </p:spPr>
        <p:txBody>
          <a:bodyPr wrap="square">
            <a:spAutoFit/>
          </a:bodyPr>
          <a:lstStyle/>
          <a:p>
            <a:pPr algn="ctr"/>
            <a:r>
              <a:rPr sz="1500" b="0">
                <a:solidFill>
                  <a:srgbClr val="FFFFFF"/>
                </a:solidFill>
                <a:latin typeface="游ゴシック"/>
              </a:rPr>
              <a:t>代表的な値だけを見るとバスありの方が高い。しかし、先に決めておいたルールでは15通りすべての</a:t>
            </a:r>
          </a:p>
          <a:p>
            <a:pPr algn="ctr"/>
            <a:r>
              <a:rPr sz="1500" b="0">
                <a:solidFill>
                  <a:srgbClr val="FFFFFF"/>
                </a:solidFill>
                <a:latin typeface="游ゴシック"/>
              </a:rPr>
              <a:t>向きがそろっていないため、バスによって全体の避難完了の割合が良くなった、悪くなったとは言い切らない。</a:t>
            </a:r>
          </a:p>
        </p:txBody>
      </p:sp>
      <p:sp>
        <p:nvSpPr>
          <p:cNvPr id="11" name="TextBox 10"/>
          <p:cNvSpPr txBox="1"/>
          <p:nvPr/>
        </p:nvSpPr>
        <p:spPr>
          <a:xfrm>
            <a:off x="720000" y="4860000"/>
            <a:ext cx="10764000" cy="1007999"/>
          </a:xfrm>
          <a:prstGeom prst="rect">
            <a:avLst/>
          </a:prstGeom>
          <a:noFill/>
        </p:spPr>
        <p:txBody>
          <a:bodyPr wrap="square">
            <a:spAutoFit/>
          </a:bodyPr>
          <a:lstStyle/>
          <a:p>
            <a:pPr algn="ctr"/>
            <a:r>
              <a:rPr sz="1450" b="0">
                <a:solidFill>
                  <a:srgbClr val="BFDBFE"/>
                </a:solidFill>
                <a:latin typeface="游ゴシック"/>
              </a:rPr>
              <a:t>「良くなったと言い切れない」ことと「バスに効果がない」ことは違う。バスが実際に住民を避難所まで</a:t>
            </a:r>
          </a:p>
          <a:p>
            <a:pPr algn="ctr"/>
            <a:r>
              <a:rPr sz="1450" b="0">
                <a:solidFill>
                  <a:srgbClr val="BFDBFE"/>
                </a:solidFill>
                <a:latin typeface="游ゴシック"/>
              </a:rPr>
              <a:t>運び、自分の車を使えない人へ別の移動手段を提供できたことは確認できている（次のスライド）。</a:t>
            </a:r>
          </a:p>
        </p:txBody>
      </p:sp>
      <p:sp>
        <p:nvSpPr>
          <p:cNvPr id="12" name="TextBox 11"/>
          <p:cNvSpPr txBox="1"/>
          <p:nvPr/>
        </p:nvSpPr>
        <p:spPr>
          <a:xfrm>
            <a:off x="720000" y="5903999"/>
            <a:ext cx="10764000" cy="360000"/>
          </a:xfrm>
          <a:prstGeom prst="rect">
            <a:avLst/>
          </a:prstGeom>
          <a:noFill/>
        </p:spPr>
        <p:txBody>
          <a:bodyPr wrap="square">
            <a:spAutoFit/>
          </a:bodyPr>
          <a:lstStyle/>
          <a:p>
            <a:pPr algn="ctr"/>
            <a:r>
              <a:rPr sz="1350" b="0">
                <a:solidFill>
                  <a:srgbClr val="BFDBFE"/>
                </a:solidFill>
                <a:latin typeface="游ゴシック"/>
              </a:rPr>
              <a:t>バスの台数を10台に増やして確認しても向きはそろわず、この結論は変わらなかった。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バスを使ったことで確認できた良い点と課題</a:t>
            </a:r>
          </a:p>
        </p:txBody>
      </p:sp>
      <p:sp>
        <p:nvSpPr>
          <p:cNvPr id="5" name="Rectangle 4"/>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0000" y="1080000"/>
            <a:ext cx="5220000" cy="4860000"/>
          </a:xfrm>
          <a:prstGeom prst="rect">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0000" y="1188000"/>
            <a:ext cx="4860000" cy="324000"/>
          </a:xfrm>
          <a:prstGeom prst="rect">
            <a:avLst/>
          </a:prstGeom>
          <a:noFill/>
        </p:spPr>
        <p:txBody>
          <a:bodyPr wrap="square">
            <a:spAutoFit/>
          </a:bodyPr>
          <a:lstStyle/>
          <a:p>
            <a:pPr algn="l"/>
            <a:r>
              <a:rPr sz="1600" b="1">
                <a:solidFill>
                  <a:srgbClr val="1E40AF"/>
                </a:solidFill>
                <a:latin typeface="游ゴシック"/>
              </a:rPr>
              <a:t>確認できた良い点</a:t>
            </a:r>
          </a:p>
        </p:txBody>
      </p:sp>
      <p:sp>
        <p:nvSpPr>
          <p:cNvPr id="8" name="TextBox 7"/>
          <p:cNvSpPr txBox="1"/>
          <p:nvPr/>
        </p:nvSpPr>
        <p:spPr>
          <a:xfrm>
            <a:off x="720000" y="1620000"/>
            <a:ext cx="4860000" cy="2880000"/>
          </a:xfrm>
          <a:prstGeom prst="rect">
            <a:avLst/>
          </a:prstGeom>
          <a:noFill/>
        </p:spPr>
        <p:txBody>
          <a:bodyPr wrap="square">
            <a:spAutoFit/>
          </a:bodyPr>
          <a:lstStyle/>
          <a:p>
            <a:pPr>
              <a:spcBef>
                <a:spcPts val="600"/>
              </a:spcBef>
            </a:pPr>
            <a:r>
              <a:rPr sz="1500">
                <a:solidFill>
                  <a:srgbClr val="1E293B"/>
                </a:solidFill>
                <a:latin typeface="游ゴシック"/>
              </a:rPr>
              <a:t>・ バスありの5回で、1回につき75〜165人を実際に避難所まで運んだ</a:t>
            </a:r>
          </a:p>
          <a:p>
            <a:pPr>
              <a:spcBef>
                <a:spcPts val="600"/>
              </a:spcBef>
            </a:pPr>
            <a:r>
              <a:rPr sz="1500">
                <a:solidFill>
                  <a:srgbClr val="1E293B"/>
                </a:solidFill>
                <a:latin typeface="游ゴシック"/>
              </a:rPr>
              <a:t>・ 自分で車を使えない人へ、迎えの車とは別の避難手段を用意できた</a:t>
            </a:r>
          </a:p>
          <a:p>
            <a:pPr>
              <a:spcBef>
                <a:spcPts val="600"/>
              </a:spcBef>
            </a:pPr>
            <a:r>
              <a:rPr sz="1500">
                <a:solidFill>
                  <a:srgbClr val="1E293B"/>
                </a:solidFill>
                <a:latin typeface="游ゴシック"/>
              </a:rPr>
              <a:t>・ バスで運んだ分、迎えに行く車を54台減らせる組み方ができた</a:t>
            </a:r>
          </a:p>
        </p:txBody>
      </p:sp>
      <p:sp>
        <p:nvSpPr>
          <p:cNvPr id="9" name="Rectangle 8"/>
          <p:cNvSpPr/>
          <p:nvPr/>
        </p:nvSpPr>
        <p:spPr>
          <a:xfrm>
            <a:off x="6300000" y="1080000"/>
            <a:ext cx="5353200" cy="48600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80000" y="1188000"/>
            <a:ext cx="4860000" cy="324000"/>
          </a:xfrm>
          <a:prstGeom prst="rect">
            <a:avLst/>
          </a:prstGeom>
          <a:noFill/>
        </p:spPr>
        <p:txBody>
          <a:bodyPr wrap="square">
            <a:spAutoFit/>
          </a:bodyPr>
          <a:lstStyle/>
          <a:p>
            <a:pPr algn="l"/>
            <a:r>
              <a:rPr sz="1600" b="1">
                <a:solidFill>
                  <a:srgbClr val="F59E0B"/>
                </a:solidFill>
                <a:latin typeface="游ゴシック"/>
              </a:rPr>
              <a:t>確認できた課題</a:t>
            </a:r>
          </a:p>
        </p:txBody>
      </p:sp>
      <p:sp>
        <p:nvSpPr>
          <p:cNvPr id="11" name="TextBox 10"/>
          <p:cNvSpPr txBox="1"/>
          <p:nvPr/>
        </p:nvSpPr>
        <p:spPr>
          <a:xfrm>
            <a:off x="6480000" y="1620000"/>
            <a:ext cx="4860000" cy="3060000"/>
          </a:xfrm>
          <a:prstGeom prst="rect">
            <a:avLst/>
          </a:prstGeom>
          <a:noFill/>
        </p:spPr>
        <p:txBody>
          <a:bodyPr wrap="square">
            <a:spAutoFit/>
          </a:bodyPr>
          <a:lstStyle/>
          <a:p>
            <a:pPr>
              <a:spcBef>
                <a:spcPts val="600"/>
              </a:spcBef>
            </a:pPr>
            <a:r>
              <a:rPr sz="1500">
                <a:solidFill>
                  <a:srgbClr val="1E293B"/>
                </a:solidFill>
                <a:latin typeface="游ゴシック"/>
              </a:rPr>
              <a:t>・ 地域全体で見たときに、避難を終えられる割合が必ず上がるとは言えなかった</a:t>
            </a:r>
          </a:p>
          <a:p>
            <a:pPr>
              <a:spcBef>
                <a:spcPts val="600"/>
              </a:spcBef>
            </a:pPr>
            <a:r>
              <a:rPr sz="1500">
                <a:solidFill>
                  <a:srgbClr val="1E293B"/>
                </a:solidFill>
                <a:latin typeface="游ゴシック"/>
              </a:rPr>
              <a:t>・ バスに乗った後、避難所まで着けなかった人も出る場合がある</a:t>
            </a:r>
          </a:p>
          <a:p>
            <a:pPr>
              <a:spcBef>
                <a:spcPts val="600"/>
              </a:spcBef>
            </a:pPr>
            <a:r>
              <a:rPr sz="1500">
                <a:solidFill>
                  <a:srgbClr val="1E293B"/>
                </a:solidFill>
                <a:latin typeface="游ゴシック"/>
              </a:rPr>
              <a:t>・ バスを待つ時間、道が通れなくなる時刻、出発の集中しやすさによって効果が変わる可能性がある</a:t>
            </a:r>
          </a:p>
          <a:p>
            <a:pPr>
              <a:spcBef>
                <a:spcPts val="600"/>
              </a:spcBef>
            </a:pPr>
            <a:r>
              <a:rPr sz="1500">
                <a:solidFill>
                  <a:srgbClr val="1E293B"/>
                </a:solidFill>
                <a:latin typeface="游ゴシック"/>
              </a:rPr>
              <a:t>・ 今のバスは、決まった乗り降りの場所を往復する方式であり、予約に応じて最も良い経路を組む方式ではない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⑦ 高齢者・車を持たない人だけを取り出して、もう一度比べた</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一人ひとりの記録を作り直し、より細かく確認した</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007999"/>
            <a:ext cx="11088000" cy="648000"/>
          </a:xfrm>
          <a:prstGeom prst="rect">
            <a:avLst/>
          </a:prstGeom>
          <a:noFill/>
        </p:spPr>
        <p:txBody>
          <a:bodyPr wrap="square">
            <a:spAutoFit/>
          </a:bodyPr>
          <a:lstStyle/>
          <a:p>
            <a:pPr algn="l"/>
            <a:r>
              <a:rPr sz="1450" b="0">
                <a:solidFill>
                  <a:srgbClr val="1E293B"/>
                </a:solidFill>
                <a:latin typeface="游ゴシック"/>
              </a:rPr>
              <a:t>対象者一人ひとりに記録をつけ直し、「高齢者」935人・「それ以外（車を持たない人を含む）」2,320人、</a:t>
            </a:r>
          </a:p>
          <a:p>
            <a:pPr algn="l"/>
            <a:r>
              <a:rPr sz="1450" b="0">
                <a:solidFill>
                  <a:srgbClr val="1E293B"/>
                </a:solidFill>
                <a:latin typeface="游ゴシック"/>
              </a:rPr>
              <a:t>合計3,255人を数え直した。バスなし4回・バスあり5回のうち、条件をそろえられた4組で比べた。</a:t>
            </a:r>
          </a:p>
        </p:txBody>
      </p:sp>
      <p:graphicFrame>
        <p:nvGraphicFramePr>
          <p:cNvPr id="8" name="Table 7"/>
          <p:cNvGraphicFramePr>
            <a:graphicFrameLocks noGrp="1"/>
          </p:cNvGraphicFramePr>
          <p:nvPr/>
        </p:nvGraphicFramePr>
        <p:xfrm>
          <a:off x="1260000" y="1872000"/>
          <a:ext cx="9673199" cy="1373400"/>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3193199">
                  <a:extLst>
                    <a:ext uri="{9D8B030D-6E8A-4147-A177-3AD203B41FA5}">
                      <a16:colId xmlns:a16="http://schemas.microsoft.com/office/drawing/2014/main" val="20002"/>
                    </a:ext>
                  </a:extLst>
                </a:gridCol>
              </a:tblGrid>
              <a:tr h="420000">
                <a:tc>
                  <a:txBody>
                    <a:bodyPr/>
                    <a:lstStyle/>
                    <a:p>
                      <a:pPr algn="ctr"/>
                      <a:r>
                        <a:rPr sz="1450" b="1">
                          <a:solidFill>
                            <a:srgbClr val="FFFFFF"/>
                          </a:solidFill>
                          <a:latin typeface="游ゴシック"/>
                        </a:rPr>
                        <a:t>項目</a:t>
                      </a:r>
                    </a:p>
                  </a:txBody>
                  <a:tcPr>
                    <a:solidFill>
                      <a:srgbClr val="1E40AF"/>
                    </a:solidFill>
                  </a:tcPr>
                </a:tc>
                <a:tc>
                  <a:txBody>
                    <a:bodyPr/>
                    <a:lstStyle/>
                    <a:p>
                      <a:pPr algn="ctr"/>
                      <a:r>
                        <a:rPr sz="1450" b="1">
                          <a:solidFill>
                            <a:srgbClr val="FFFFFF"/>
                          </a:solidFill>
                          <a:latin typeface="游ゴシック"/>
                        </a:rPr>
                        <a:t>バスなし（4回）</a:t>
                      </a:r>
                    </a:p>
                  </a:txBody>
                  <a:tcPr>
                    <a:solidFill>
                      <a:srgbClr val="1E40AF"/>
                    </a:solidFill>
                  </a:tcPr>
                </a:tc>
                <a:tc>
                  <a:txBody>
                    <a:bodyPr/>
                    <a:lstStyle/>
                    <a:p>
                      <a:pPr algn="ctr"/>
                      <a:r>
                        <a:rPr sz="1450" b="1">
                          <a:solidFill>
                            <a:srgbClr val="FFFFFF"/>
                          </a:solidFill>
                          <a:latin typeface="游ゴシック"/>
                        </a:rPr>
                        <a:t>バスあり（5回）</a:t>
                      </a:r>
                    </a:p>
                  </a:txBody>
                  <a:tcPr>
                    <a:solidFill>
                      <a:srgbClr val="1E40AF"/>
                    </a:solidFill>
                  </a:tcPr>
                </a:tc>
                <a:extLst>
                  <a:ext uri="{0D108BD9-81ED-4DB2-BD59-A6C34878D82A}">
                    <a16:rowId xmlns:a16="http://schemas.microsoft.com/office/drawing/2014/main" val="10000"/>
                  </a:ext>
                </a:extLst>
              </a:tr>
              <a:tr h="420000">
                <a:tc>
                  <a:txBody>
                    <a:bodyPr/>
                    <a:lstStyle/>
                    <a:p>
                      <a:pPr algn="ctr"/>
                      <a:r>
                        <a:rPr sz="1450">
                          <a:latin typeface="游ゴシック"/>
                        </a:rPr>
                        <a:t>高齢者の到着できた割合（代表的な値）</a:t>
                      </a:r>
                    </a:p>
                  </a:txBody>
                  <a:tcPr/>
                </a:tc>
                <a:tc>
                  <a:txBody>
                    <a:bodyPr/>
                    <a:lstStyle/>
                    <a:p>
                      <a:pPr algn="ctr"/>
                      <a:r>
                        <a:rPr sz="1450">
                          <a:latin typeface="游ゴシック"/>
                        </a:rPr>
                        <a:t>93.53%</a:t>
                      </a:r>
                    </a:p>
                  </a:txBody>
                  <a:tcPr/>
                </a:tc>
                <a:tc>
                  <a:txBody>
                    <a:bodyPr/>
                    <a:lstStyle/>
                    <a:p>
                      <a:pPr algn="ctr"/>
                      <a:r>
                        <a:rPr sz="1450">
                          <a:latin typeface="游ゴシック"/>
                        </a:rPr>
                        <a:t>94.12%</a:t>
                      </a:r>
                    </a:p>
                  </a:txBody>
                  <a:tcPr/>
                </a:tc>
                <a:extLst>
                  <a:ext uri="{0D108BD9-81ED-4DB2-BD59-A6C34878D82A}">
                    <a16:rowId xmlns:a16="http://schemas.microsoft.com/office/drawing/2014/main" val="10001"/>
                  </a:ext>
                </a:extLst>
              </a:tr>
              <a:tr h="420000">
                <a:tc>
                  <a:txBody>
                    <a:bodyPr/>
                    <a:lstStyle/>
                    <a:p>
                      <a:pPr algn="ctr"/>
                      <a:r>
                        <a:rPr sz="1450">
                          <a:latin typeface="游ゴシック"/>
                        </a:rPr>
                        <a:t>結果の範囲</a:t>
                      </a:r>
                    </a:p>
                  </a:txBody>
                  <a:tcPr>
                    <a:solidFill>
                      <a:srgbClr val="DBEAFE"/>
                    </a:solidFill>
                  </a:tcPr>
                </a:tc>
                <a:tc>
                  <a:txBody>
                    <a:bodyPr/>
                    <a:lstStyle/>
                    <a:p>
                      <a:pPr algn="ctr"/>
                      <a:r>
                        <a:rPr sz="1450">
                          <a:latin typeface="游ゴシック"/>
                        </a:rPr>
                        <a:t>71.66〜95.19%</a:t>
                      </a:r>
                    </a:p>
                  </a:txBody>
                  <a:tcPr>
                    <a:solidFill>
                      <a:srgbClr val="DBEAFE"/>
                    </a:solidFill>
                  </a:tcPr>
                </a:tc>
                <a:tc>
                  <a:txBody>
                    <a:bodyPr/>
                    <a:lstStyle/>
                    <a:p>
                      <a:pPr algn="ctr"/>
                      <a:r>
                        <a:rPr sz="1450">
                          <a:latin typeface="游ゴシック"/>
                        </a:rPr>
                        <a:t>90.48〜96.90%</a:t>
                      </a:r>
                    </a:p>
                  </a:txBody>
                  <a:tcPr>
                    <a:solidFill>
                      <a:srgbClr val="DBEAFE"/>
                    </a:solidFill>
                  </a:tcPr>
                </a:tc>
                <a:extLst>
                  <a:ext uri="{0D108BD9-81ED-4DB2-BD59-A6C34878D82A}">
                    <a16:rowId xmlns:a16="http://schemas.microsoft.com/office/drawing/2014/main" val="10002"/>
                  </a:ext>
                </a:extLst>
              </a:tr>
            </a:tbl>
          </a:graphicData>
        </a:graphic>
      </p:graphicFrame>
      <p:sp>
        <p:nvSpPr>
          <p:cNvPr id="9" name="Rectangle 8"/>
          <p:cNvSpPr/>
          <p:nvPr/>
        </p:nvSpPr>
        <p:spPr>
          <a:xfrm>
            <a:off x="360000" y="3384000"/>
            <a:ext cx="11473200" cy="2340000"/>
          </a:xfrm>
          <a:prstGeom prst="rect">
            <a:avLst/>
          </a:prstGeom>
          <a:solidFill>
            <a:srgbClr val="FEF3C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3491999"/>
            <a:ext cx="11088000" cy="288000"/>
          </a:xfrm>
          <a:prstGeom prst="rect">
            <a:avLst/>
          </a:prstGeom>
          <a:noFill/>
        </p:spPr>
        <p:txBody>
          <a:bodyPr wrap="square">
            <a:spAutoFit/>
          </a:bodyPr>
          <a:lstStyle/>
          <a:p>
            <a:pPr algn="l"/>
            <a:r>
              <a:rPr sz="1500" b="1">
                <a:solidFill>
                  <a:srgbClr val="F59E0B"/>
                </a:solidFill>
                <a:latin typeface="游ゴシック"/>
              </a:rPr>
              <a:t>条件をそろえた組で見た「バスあり−バスなし」の差</a:t>
            </a:r>
          </a:p>
        </p:txBody>
      </p:sp>
      <p:sp>
        <p:nvSpPr>
          <p:cNvPr id="11" name="TextBox 10"/>
          <p:cNvSpPr txBox="1"/>
          <p:nvPr/>
        </p:nvSpPr>
        <p:spPr>
          <a:xfrm>
            <a:off x="540000" y="3780000"/>
            <a:ext cx="11088000" cy="1872000"/>
          </a:xfrm>
          <a:prstGeom prst="rect">
            <a:avLst/>
          </a:prstGeom>
          <a:noFill/>
        </p:spPr>
        <p:txBody>
          <a:bodyPr wrap="square">
            <a:spAutoFit/>
          </a:bodyPr>
          <a:lstStyle/>
          <a:p>
            <a:pPr algn="l"/>
            <a:r>
              <a:rPr sz="1400" b="0">
                <a:solidFill>
                  <a:srgbClr val="1E293B"/>
                </a:solidFill>
                <a:latin typeface="游ゴシック"/>
              </a:rPr>
              <a:t>代表的な差は+1.98ポイントだが、範囲は−4.71〜+23.21ポイントで、4組のうち良くなったもの2組・</a:t>
            </a:r>
          </a:p>
          <a:p>
            <a:pPr algn="l"/>
            <a:r>
              <a:rPr sz="1400" b="0">
                <a:solidFill>
                  <a:srgbClr val="1E293B"/>
                </a:solidFill>
                <a:latin typeface="游ゴシック"/>
              </a:rPr>
              <a:t>悪くなったもの1組・ほぼ変化なし1組だった。</a:t>
            </a:r>
          </a:p>
          <a:p>
            <a:pPr algn="l"/>
            <a:endParaRPr sz="1400" b="0">
              <a:solidFill>
                <a:srgbClr val="1E293B"/>
              </a:solidFill>
              <a:latin typeface="游ゴシック"/>
            </a:endParaRPr>
          </a:p>
          <a:p>
            <a:pPr algn="l"/>
            <a:r>
              <a:rPr sz="1400" b="0">
                <a:solidFill>
                  <a:srgbClr val="1E293B"/>
                </a:solidFill>
                <a:latin typeface="游ゴシック"/>
              </a:rPr>
              <a:t>高齢者だけを取り出して比べても向きはそろわなかったため、「バスが高齢者の逃げ遅れを確実に減らした」</a:t>
            </a:r>
          </a:p>
          <a:p>
            <a:pPr algn="l"/>
            <a:r>
              <a:rPr sz="1400" b="0">
                <a:solidFill>
                  <a:srgbClr val="1E293B"/>
                </a:solidFill>
                <a:latin typeface="游ゴシック"/>
              </a:rPr>
              <a:t>とは言えない。一方、高齢者だけを取り出して確認できる仕組みは整えられた。今回の結果は、これまでの</a:t>
            </a:r>
          </a:p>
          <a:p>
            <a:pPr algn="l"/>
            <a:r>
              <a:rPr sz="1400" b="0">
                <a:solidFill>
                  <a:srgbClr val="1E293B"/>
                </a:solidFill>
                <a:latin typeface="游ゴシック"/>
              </a:rPr>
              <a:t>比較結果（⑤で示した結論）を上書きするものではなく、追加の確認として記録した。</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32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3200" cy="792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 y="90000"/>
            <a:ext cx="11520000" cy="468000"/>
          </a:xfrm>
          <a:prstGeom prst="rect">
            <a:avLst/>
          </a:prstGeom>
          <a:noFill/>
        </p:spPr>
        <p:txBody>
          <a:bodyPr wrap="square">
            <a:spAutoFit/>
          </a:bodyPr>
          <a:lstStyle/>
          <a:p>
            <a:pPr algn="l"/>
            <a:r>
              <a:rPr sz="2400" b="1">
                <a:solidFill>
                  <a:srgbClr val="FFFFFF"/>
                </a:solidFill>
                <a:latin typeface="游ゴシック"/>
              </a:rPr>
              <a:t>常総市を対象とした調査の到達点</a:t>
            </a:r>
          </a:p>
        </p:txBody>
      </p:sp>
      <p:sp>
        <p:nvSpPr>
          <p:cNvPr id="5" name="TextBox 4"/>
          <p:cNvSpPr txBox="1"/>
          <p:nvPr/>
        </p:nvSpPr>
        <p:spPr>
          <a:xfrm>
            <a:off x="180000" y="503999"/>
            <a:ext cx="11520000" cy="216000"/>
          </a:xfrm>
          <a:prstGeom prst="rect">
            <a:avLst/>
          </a:prstGeom>
          <a:noFill/>
        </p:spPr>
        <p:txBody>
          <a:bodyPr wrap="square">
            <a:spAutoFit/>
          </a:bodyPr>
          <a:lstStyle/>
          <a:p>
            <a:pPr algn="l"/>
            <a:r>
              <a:rPr sz="1300" b="0">
                <a:solidFill>
                  <a:srgbClr val="BFDBFE"/>
                </a:solidFill>
                <a:latin typeface="游ゴシック"/>
              </a:rPr>
              <a:t>研究の問いに答える結果はそろい、追加の実行や実装は不要と判断した</a:t>
            </a:r>
          </a:p>
        </p:txBody>
      </p:sp>
      <p:sp>
        <p:nvSpPr>
          <p:cNvPr id="6" name="Rectangle 5"/>
          <p:cNvSpPr/>
          <p:nvPr/>
        </p:nvSpPr>
        <p:spPr>
          <a:xfrm>
            <a:off x="0" y="6660000"/>
            <a:ext cx="12193200" cy="54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0000" y="972000"/>
          <a:ext cx="11113200" cy="2160000"/>
        </p:xfrm>
        <a:graphic>
          <a:graphicData uri="http://schemas.openxmlformats.org/drawingml/2006/table">
            <a:tbl>
              <a:tblPr firstRow="1" bandRow="1">
                <a:tableStyleId>{5C22544A-7EE6-4342-B048-85BDC9FD1C3A}</a:tableStyleId>
              </a:tblPr>
              <a:tblGrid>
                <a:gridCol w="4140000">
                  <a:extLst>
                    <a:ext uri="{9D8B030D-6E8A-4147-A177-3AD203B41FA5}">
                      <a16:colId xmlns:a16="http://schemas.microsoft.com/office/drawing/2014/main" val="20000"/>
                    </a:ext>
                  </a:extLst>
                </a:gridCol>
                <a:gridCol w="6973200">
                  <a:extLst>
                    <a:ext uri="{9D8B030D-6E8A-4147-A177-3AD203B41FA5}">
                      <a16:colId xmlns:a16="http://schemas.microsoft.com/office/drawing/2014/main" val="20001"/>
                    </a:ext>
                  </a:extLst>
                </a:gridCol>
              </a:tblGrid>
              <a:tr h="432000">
                <a:tc>
                  <a:txBody>
                    <a:bodyPr/>
                    <a:lstStyle/>
                    <a:p>
                      <a:pPr algn="ctr"/>
                      <a:r>
                        <a:rPr sz="1400" b="1">
                          <a:solidFill>
                            <a:srgbClr val="FFFFFF"/>
                          </a:solidFill>
                          <a:latin typeface="游ゴシック"/>
                        </a:rPr>
                        <a:t>項目</a:t>
                      </a:r>
                    </a:p>
                  </a:txBody>
                  <a:tcPr>
                    <a:solidFill>
                      <a:srgbClr val="1E40AF"/>
                    </a:solidFill>
                  </a:tcPr>
                </a:tc>
                <a:tc>
                  <a:txBody>
                    <a:bodyPr/>
                    <a:lstStyle/>
                    <a:p>
                      <a:pPr algn="ctr"/>
                      <a:r>
                        <a:rPr sz="1400" b="1">
                          <a:solidFill>
                            <a:srgbClr val="FFFFFF"/>
                          </a:solidFill>
                          <a:latin typeface="游ゴシック"/>
                        </a:rPr>
                        <a:t>確認できた内容</a:t>
                      </a:r>
                    </a:p>
                  </a:txBody>
                  <a:tcPr>
                    <a:solidFill>
                      <a:srgbClr val="1E40AF"/>
                    </a:solidFill>
                  </a:tcPr>
                </a:tc>
                <a:extLst>
                  <a:ext uri="{0D108BD9-81ED-4DB2-BD59-A6C34878D82A}">
                    <a16:rowId xmlns:a16="http://schemas.microsoft.com/office/drawing/2014/main" val="10000"/>
                  </a:ext>
                </a:extLst>
              </a:tr>
              <a:tr h="432000">
                <a:tc>
                  <a:txBody>
                    <a:bodyPr/>
                    <a:lstStyle/>
                    <a:p>
                      <a:pPr algn="ctr"/>
                      <a:r>
                        <a:rPr sz="1400">
                          <a:latin typeface="游ゴシック"/>
                        </a:rPr>
                        <a:t>道路データの規模</a:t>
                      </a:r>
                    </a:p>
                  </a:txBody>
                  <a:tcPr/>
                </a:tc>
                <a:tc>
                  <a:txBody>
                    <a:bodyPr/>
                    <a:lstStyle/>
                    <a:p>
                      <a:pPr algn="l"/>
                      <a:r>
                        <a:rPr sz="1400">
                          <a:latin typeface="游ゴシック"/>
                        </a:rPr>
                        <a:t>常総市の道路データ 12,860区間</a:t>
                      </a:r>
                    </a:p>
                  </a:txBody>
                  <a:tcPr/>
                </a:tc>
                <a:extLst>
                  <a:ext uri="{0D108BD9-81ED-4DB2-BD59-A6C34878D82A}">
                    <a16:rowId xmlns:a16="http://schemas.microsoft.com/office/drawing/2014/main" val="10001"/>
                  </a:ext>
                </a:extLst>
              </a:tr>
              <a:tr h="432000">
                <a:tc>
                  <a:txBody>
                    <a:bodyPr/>
                    <a:lstStyle/>
                    <a:p>
                      <a:pPr algn="ctr"/>
                      <a:r>
                        <a:rPr sz="1400">
                          <a:latin typeface="游ゴシック"/>
                        </a:rPr>
                        <a:t>人口・避難所（実際のデータをもとにした版）</a:t>
                      </a:r>
                    </a:p>
                  </a:txBody>
                  <a:tcPr>
                    <a:solidFill>
                      <a:srgbClr val="DBEAFE"/>
                    </a:solidFill>
                  </a:tcPr>
                </a:tc>
                <a:tc>
                  <a:txBody>
                    <a:bodyPr/>
                    <a:lstStyle/>
                    <a:p>
                      <a:pPr algn="l"/>
                      <a:r>
                        <a:rPr sz="1400">
                          <a:latin typeface="游ゴシック"/>
                        </a:rPr>
                        <a:t>40地点・2,257人（うち高齢者611人）、洪水時に使える避難所19か所</a:t>
                      </a:r>
                    </a:p>
                  </a:txBody>
                  <a:tcPr>
                    <a:solidFill>
                      <a:srgbClr val="DBEAFE"/>
                    </a:solidFill>
                  </a:tcPr>
                </a:tc>
                <a:extLst>
                  <a:ext uri="{0D108BD9-81ED-4DB2-BD59-A6C34878D82A}">
                    <a16:rowId xmlns:a16="http://schemas.microsoft.com/office/drawing/2014/main" val="10002"/>
                  </a:ext>
                </a:extLst>
              </a:tr>
              <a:tr h="432000">
                <a:tc>
                  <a:txBody>
                    <a:bodyPr/>
                    <a:lstStyle/>
                    <a:p>
                      <a:pPr algn="ctr"/>
                      <a:r>
                        <a:rPr sz="1400">
                          <a:latin typeface="游ゴシック"/>
                        </a:rPr>
                        <a:t>時間とともに増えた通行止めの道路</a:t>
                      </a:r>
                    </a:p>
                  </a:txBody>
                  <a:tcPr/>
                </a:tc>
                <a:tc>
                  <a:txBody>
                    <a:bodyPr/>
                    <a:lstStyle/>
                    <a:p>
                      <a:pPr algn="l"/>
                      <a:r>
                        <a:rPr sz="1400">
                          <a:latin typeface="游ゴシック"/>
                        </a:rPr>
                        <a:t>168本 → 764本</a:t>
                      </a:r>
                    </a:p>
                  </a:txBody>
                  <a:tcPr/>
                </a:tc>
                <a:extLst>
                  <a:ext uri="{0D108BD9-81ED-4DB2-BD59-A6C34878D82A}">
                    <a16:rowId xmlns:a16="http://schemas.microsoft.com/office/drawing/2014/main" val="10003"/>
                  </a:ext>
                </a:extLst>
              </a:tr>
              <a:tr h="432000">
                <a:tc>
                  <a:txBody>
                    <a:bodyPr/>
                    <a:lstStyle/>
                    <a:p>
                      <a:pPr algn="ctr"/>
                      <a:r>
                        <a:rPr sz="1400">
                          <a:latin typeface="游ゴシック"/>
                        </a:rPr>
                        <a:t>避難所へ行く道がない地点（机上での確認）</a:t>
                      </a:r>
                    </a:p>
                  </a:txBody>
                  <a:tcPr>
                    <a:solidFill>
                      <a:srgbClr val="DBEAFE"/>
                    </a:solidFill>
                  </a:tcPr>
                </a:tc>
                <a:tc>
                  <a:txBody>
                    <a:bodyPr/>
                    <a:lstStyle/>
                    <a:p>
                      <a:pPr algn="l"/>
                      <a:r>
                        <a:rPr sz="1400">
                          <a:latin typeface="游ゴシック"/>
                        </a:rPr>
                        <a:t>17地点・952人（うち高齢者223人）</a:t>
                      </a:r>
                    </a:p>
                  </a:txBody>
                  <a:tcPr>
                    <a:solidFill>
                      <a:srgbClr val="DBEAFE"/>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360000" y="3420000"/>
            <a:ext cx="11473200" cy="1440000"/>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0000" y="3564000"/>
            <a:ext cx="11088000" cy="1224000"/>
          </a:xfrm>
          <a:prstGeom prst="rect">
            <a:avLst/>
          </a:prstGeom>
          <a:noFill/>
        </p:spPr>
        <p:txBody>
          <a:bodyPr wrap="square">
            <a:spAutoFit/>
          </a:bodyPr>
          <a:lstStyle/>
          <a:p>
            <a:pPr algn="l"/>
            <a:r>
              <a:rPr sz="1450" b="0">
                <a:solidFill>
                  <a:srgbClr val="1E40AF"/>
                </a:solidFill>
                <a:latin typeface="游ゴシック"/>
              </a:rPr>
              <a:t>判断：常総市の浸水・道路・人口・避難所のデータをつなぎ、机上での確認、実際に車を動かした確認、</a:t>
            </a:r>
          </a:p>
          <a:p>
            <a:pPr algn="l"/>
            <a:r>
              <a:rPr sz="1450" b="0">
                <a:solidFill>
                  <a:srgbClr val="1E40AF"/>
                </a:solidFill>
                <a:latin typeface="游ゴシック"/>
              </a:rPr>
              <a:t>交通が苦手な人の輸送、バスあり・なしの比較までを、やり直しがきく形で実行できているため、</a:t>
            </a:r>
          </a:p>
          <a:p>
            <a:pPr algn="l"/>
            <a:r>
              <a:rPr sz="1450" b="0">
                <a:solidFill>
                  <a:srgbClr val="1E40AF"/>
                </a:solidFill>
                <a:latin typeface="游ゴシック"/>
              </a:rPr>
              <a:t>基礎的な避難のシミュレーション研究として必要な内容と成果は得られている。</a:t>
            </a:r>
          </a:p>
        </p:txBody>
      </p:sp>
      <p:sp>
        <p:nvSpPr>
          <p:cNvPr id="10" name="TextBox 9"/>
          <p:cNvSpPr txBox="1"/>
          <p:nvPr/>
        </p:nvSpPr>
        <p:spPr>
          <a:xfrm>
            <a:off x="540000" y="4968000"/>
            <a:ext cx="11088000" cy="792000"/>
          </a:xfrm>
          <a:prstGeom prst="rect">
            <a:avLst/>
          </a:prstGeom>
          <a:noFill/>
        </p:spPr>
        <p:txBody>
          <a:bodyPr wrap="square">
            <a:spAutoFit/>
          </a:bodyPr>
          <a:lstStyle/>
          <a:p>
            <a:pPr algn="l"/>
            <a:r>
              <a:rPr sz="1350" b="0">
                <a:solidFill>
                  <a:srgbClr val="64748B"/>
                </a:solidFill>
                <a:latin typeface="游ゴシック"/>
              </a:rPr>
              <a:t>一方、2015年当時の実際の道路・車両台数・避難行動との照合、実際の渋滞や逃げ遅れとの突き合わせ、</a:t>
            </a:r>
          </a:p>
          <a:p>
            <a:pPr algn="l"/>
            <a:r>
              <a:rPr sz="1350" b="0">
                <a:solidFill>
                  <a:srgbClr val="64748B"/>
                </a:solidFill>
                <a:latin typeface="游ゴシック"/>
              </a:rPr>
              <a:t>予約に応じて最適な経路を組む方式の再現、適切な導入台数の提案はまだできておらず、</a:t>
            </a:r>
          </a:p>
          <a:p>
            <a:pPr algn="l"/>
            <a:r>
              <a:rPr sz="1350" b="0">
                <a:solidFill>
                  <a:srgbClr val="64748B"/>
                </a:solidFill>
                <a:latin typeface="游ゴシック"/>
              </a:rPr>
              <a:t>「実際の災害を完全に再現した」「適切な導入台数を特定した」とは言わない。</a:t>
            </a:r>
          </a:p>
        </p:txBody>
      </p:sp>
      <p:sp>
        <p:nvSpPr>
          <p:cNvPr id="11" name="TextBox 10"/>
          <p:cNvSpPr txBox="1"/>
          <p:nvPr/>
        </p:nvSpPr>
        <p:spPr>
          <a:xfrm>
            <a:off x="540000" y="5832000"/>
            <a:ext cx="11088000" cy="792000"/>
          </a:xfrm>
          <a:prstGeom prst="rect">
            <a:avLst/>
          </a:prstGeom>
          <a:noFill/>
        </p:spPr>
        <p:txBody>
          <a:bodyPr wrap="square">
            <a:spAutoFit/>
          </a:bodyPr>
          <a:lstStyle/>
          <a:p>
            <a:pPr algn="l"/>
            <a:r>
              <a:rPr sz="1300" b="0">
                <a:solidFill>
                  <a:srgbClr val="64748B"/>
                </a:solidFill>
                <a:latin typeface="游ゴシック"/>
              </a:rPr>
              <a:t>訂正：予約制の乗合バス「ふれあい号」は2015年当時からすでに運行されていた（2009年運行開始、</a:t>
            </a:r>
          </a:p>
          <a:p>
            <a:pPr algn="l"/>
            <a:r>
              <a:rPr sz="1300" b="0">
                <a:solidFill>
                  <a:srgbClr val="64748B"/>
                </a:solidFill>
                <a:latin typeface="游ゴシック"/>
              </a:rPr>
              <a:t>2015年度は延べ19,518人が利用）。「予約制の乗合交通は当時存在しなかった」という以前の記述は誤りであり、</a:t>
            </a:r>
          </a:p>
          <a:p>
            <a:pPr algn="l"/>
            <a:r>
              <a:rPr sz="1300" b="0">
                <a:solidFill>
                  <a:srgbClr val="64748B"/>
                </a:solidFill>
                <a:latin typeface="游ゴシック"/>
              </a:rPr>
              <a:t>本研究の「バスあり」は、当時あった交通を災害時に転用した場合の仮の比較として位置づけを訂正した。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1000</Words>
  <Application>Microsoft Office PowerPoint</Application>
  <PresentationFormat>ユーザー設定</PresentationFormat>
  <Paragraphs>237</Paragraphs>
  <Slides>13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古賀 玲次</cp:lastModifiedBy>
  <cp:revision>1</cp:revision>
  <dcterms:created xsi:type="dcterms:W3CDTF">2013-01-27T09:14:16Z</dcterms:created>
  <dcterms:modified xsi:type="dcterms:W3CDTF">2026-08-26T07:55:18Z</dcterms:modified>
  <cp:category/>
</cp:coreProperties>
</file>