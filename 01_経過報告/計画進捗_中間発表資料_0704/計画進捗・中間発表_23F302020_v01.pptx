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620000"/>
            <a:ext cx="11113200" cy="30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620000"/>
            <a:ext cx="144000" cy="30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80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游ゴシック"/>
              </a:rPr>
              <a:t>河川氾濫時における自家用車避難と
デマンド交通バス活用の比較シミュレーション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420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游ゴシック"/>
              </a:rPr>
              <a:t>卒業研究 進捗発表会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708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游ゴシック"/>
              </a:rPr>
              <a:t>XX研究室　氏名：＿＿＿＿＿＿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031999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游ゴシック"/>
              </a:rPr>
              <a:t>2026年07月04日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2015年 鬼怒川氾濫を背景とした避難シミュレーション研究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007999"/>
            <a:ext cx="270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007999"/>
            <a:ext cx="27000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044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堤防決壊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584000"/>
            <a:ext cx="2556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游ゴシック"/>
              </a:rPr>
              <a:t>2015年9月10日
茨城県常総市三坂町付近
鬼怒川左岸が決壊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4000" y="1007999"/>
            <a:ext cx="270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4000" y="1007999"/>
            <a:ext cx="27000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6000" y="1044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浸水・道路閉鎖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000" y="1584000"/>
            <a:ext cx="2556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游ゴシック"/>
              </a:rPr>
              <a:t>広範囲の浸水により
道路が通行困難になる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000" y="1007999"/>
            <a:ext cx="270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000" y="1007999"/>
            <a:ext cx="27000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0" y="1044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避難集中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584000"/>
            <a:ext cx="2556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游ゴシック"/>
              </a:rPr>
              <a:t>自家用車避難が集中し
混雑・逃げ遅れの恐れ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2000" y="1007999"/>
            <a:ext cx="270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92000" y="1007999"/>
            <a:ext cx="27000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4000" y="1044000"/>
            <a:ext cx="25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要支援者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4000" y="1584000"/>
            <a:ext cx="2556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游ゴシック"/>
              </a:rPr>
              <a:t>高齢者・車非保有者への
避難支援が必要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37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游ゴシック"/>
              </a:rPr>
              <a:t>→ 避難シミュレーションによる定量的な評価が必要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研究目的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900000"/>
            <a:ext cx="11113200" cy="108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72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40AF"/>
                </a:solidFill>
                <a:latin typeface="游ゴシック"/>
              </a:rPr>
              <a:t>浸水時の道路閉鎖を考慮した避難シミュレーションを構築し、
自家用車避難とデマンド交通バス活用を定量的に比較する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1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  <a:latin typeface="游ゴシック"/>
              </a:rPr>
              <a:t>今回の発表範囲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520000"/>
            <a:ext cx="360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2520000"/>
            <a:ext cx="36000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556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3096000"/>
            <a:ext cx="34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游ゴシック"/>
              </a:rPr>
              <a:t>静的な避難経路検索
（浸水×道路ネットワーク → 経路の有無を確認）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6000" y="3060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6000" y="2520000"/>
            <a:ext cx="360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6000" y="2520000"/>
            <a:ext cx="3600000" cy="50399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8000" y="2556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00" y="3096000"/>
            <a:ext cx="34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游ゴシック"/>
              </a:rPr>
              <a:t>SUMOによる自家用車避難シミュレーション
（車両走行・動的道路閉鎖・混雑評価）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2000" y="3060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2000" y="2520000"/>
            <a:ext cx="360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2000" y="2520000"/>
            <a:ext cx="3600000" cy="50399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3999" y="2556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Phase 3
（予定）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3096000"/>
            <a:ext cx="34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游ゴシック"/>
              </a:rPr>
              <a:t>デマンド交通バス導入・シナリオA/B比較
（未着手）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研究全体の構成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2448000" cy="324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152000"/>
            <a:ext cx="23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実データ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800000"/>
            <a:ext cx="2376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游ゴシック"/>
              </a:rPr>
              <a:t>浸水KML・A31a
道路NW・人口
避難所・自動車保有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000" y="2340000"/>
            <a:ext cx="32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000" y="1080000"/>
            <a:ext cx="2448000" cy="32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1999" y="1152000"/>
            <a:ext cx="23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1999" y="1800000"/>
            <a:ext cx="2376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游ゴシック"/>
              </a:rPr>
              <a:t>浸水×道路
→ 閉鎖タイムライン
→ 静的経路検索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9999" y="2340000"/>
            <a:ext cx="32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2000" y="1080000"/>
            <a:ext cx="2448000" cy="324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8000" y="1152000"/>
            <a:ext cx="23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1800000"/>
            <a:ext cx="2376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游ゴシック"/>
              </a:rPr>
              <a:t>SUMO変換
→ TraCI動的閉鎖
→ 交通流評価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2340000"/>
            <a:ext cx="32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999" y="1080000"/>
            <a:ext cx="2448000" cy="32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152000"/>
            <a:ext cx="23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游ゴシック"/>
              </a:rPr>
              <a:t>Phase 3
（予定）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00000"/>
            <a:ext cx="2376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游ゴシック"/>
              </a:rPr>
              <a:t>バス投入
→ シナリオB
→ A/B比較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4500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游ゴシック"/>
              </a:rPr>
              <a:t>完了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000" y="4500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游ゴシック"/>
              </a:rPr>
              <a:t>完了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3999" y="4500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游ゴシック"/>
              </a:rPr>
              <a:t>次フェーズ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使用データ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実データ → 派生データ → SUMO入力 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900000"/>
          <a:ext cx="114732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4320000"/>
                <a:gridCol w="5533200"/>
              </a:tblGrid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用途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使用データ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SUMO上での役割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浸水範囲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GSI KML・A31a浸水想定区域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時刻別道路閉鎖の作成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道路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道路ネットワーク（GraphML）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SUMOネットワーク joso.net.xml に変換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対象地域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N03 行政区域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市区町村の抽出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出発地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250m人口メッシュ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避難車両の発生地点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車両数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人口・自動車保有台数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small / 10pct / full の車両数換算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目的地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避難施設データ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安全避難所のSUMO edgeへのスナップ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道路閉鎖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Phase 1 閉鎖タイムライン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TraCIによる動的通行止め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実データからSUMO入力まで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実データをそのまま動かしているのではなく、研究用に加工した派生データを入力として使用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007999"/>
            <a:ext cx="2520000" cy="342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1080000"/>
            <a:ext cx="24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実データ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728000"/>
            <a:ext cx="230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游ゴシック"/>
              </a:rPr>
              <a:t>浸水KML
A31a GML
道路NW (GraphML)
人口メッシュ
避難施設DB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4000" y="234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4000" y="1007999"/>
            <a:ext cx="2520000" cy="34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0" y="1080000"/>
            <a:ext cx="24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派生データ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2000" y="1728000"/>
            <a:ext cx="230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游ゴシック"/>
              </a:rPr>
              <a:t>closure_timeline.json
joso.net.xml
agent_origins.csv
shelters_sumo.csv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0" y="234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0000" y="1007999"/>
            <a:ext cx="2520000" cy="34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000" y="1080000"/>
            <a:ext cx="24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SUMO入力
（TraCI）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8000" y="1728000"/>
            <a:ext cx="230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游ゴシック"/>
              </a:rPr>
              <a:t>edge閉鎖
車両経路XML
時刻別道路閉鎖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6000" y="2340000"/>
            <a:ext cx="2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6000" y="1007999"/>
            <a:ext cx="2520000" cy="34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2000" y="1080000"/>
            <a:ext cx="24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</a:rPr>
              <a:t>シミュレーション
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28000"/>
            <a:ext cx="230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游ゴシック"/>
              </a:rPr>
              <a:t>到着/未到着
混雑ログ
避難完了時刻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1：静的な避難経路検索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900000"/>
            <a:ext cx="50400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972000"/>
            <a:ext cx="48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游ゴシック"/>
              </a:rPr>
              <a:t>実施内容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332000"/>
            <a:ext cx="486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・ 浸水ポリゴン × 道路リンクで閉鎖候補を抽出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・ 浸水深0.5m以上の道路を通行困難として除外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・ 出発地から避難所への最短経路を探索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・ 常総市を中心に茨城県内41市区町村へ拡張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・ 市区町村別シナリオHTMLを生成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4608000"/>
            <a:ext cx="5040000" cy="126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4680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游ゴシック"/>
              </a:rPr>
              <a:t>Phase 1の注意点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4968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游ゴシック"/>
              </a:rPr>
              <a:t>車両混雑・停止・到着時間は扱わない
「経路が存在するか」を確認する静的分析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0000" y="900000"/>
            <a:ext cx="58680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2000" y="972000"/>
            <a:ext cx="57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游ゴシック"/>
              </a:rPr>
              <a:t>処理フロー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1404000"/>
            <a:ext cx="5400000" cy="64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2000" y="1475999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浸水ポリゴン + 道路エッジ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2124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游ゴシック"/>
              </a:rPr>
              <a:t>↓ 空間結合（GIS）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0000" y="2340000"/>
            <a:ext cx="5400000" cy="64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2000" y="2412000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道路閉鎖タイムライン
（t0〜t7）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3060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游ゴシック"/>
              </a:rPr>
              <a:t>↓ Dijkstra 経路探索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3276000"/>
            <a:ext cx="5400000" cy="64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2000" y="3347999"/>
            <a:ext cx="52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経路あり / 経路なし
を判定 → HTML生成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2：SUMO交通流シミュレーション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SUMO 1.26.0 + TraCI による動的道路閉鎖シミュレーション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900000"/>
            <a:ext cx="216000" cy="86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8000" y="900000"/>
            <a:ext cx="11113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936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① ネットワーク変換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260000"/>
            <a:ext cx="1096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游ゴシック"/>
              </a:rPr>
              <a:t>GraphML → OSM XML → joso.net.xml
（通常edge 49,356件）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908000"/>
            <a:ext cx="216000" cy="86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000" y="1908000"/>
            <a:ext cx="11113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943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② edge ID 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2268000"/>
            <a:ext cx="1096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游ゴシック"/>
              </a:rPr>
              <a:t>Phase1 閉鎖edge 764件 → SUMO edge（全matched）
SUMO segment 計3,158件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916000"/>
            <a:ext cx="216000" cy="86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8000" y="2916000"/>
            <a:ext cx="11113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2951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③ 出発地・避難所スナップ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3276000"/>
            <a:ext cx="1096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游ゴシック"/>
              </a:rPr>
              <a:t>250mメッシュ重心 → 最寄りSUMO edge
避難所 → 安全避難所19件をスナップ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3923999"/>
            <a:ext cx="216000" cy="86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000" y="3923999"/>
            <a:ext cx="11113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3959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④ TraCI動的道路閉鎖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283999"/>
            <a:ext cx="1096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游ゴシック"/>
              </a:rPr>
              <a:t>SUMO 0秒＝出発開始
t0〜t7を789〜21,600秒に対応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932000"/>
            <a:ext cx="216000" cy="864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000" y="4932000"/>
            <a:ext cx="111132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96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⑤ 再経路探索・記録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292000"/>
            <a:ext cx="1096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游ゴシック"/>
              </a:rPr>
              <a:t>閉鎖後にSUMOが代替経路を探索
到着/未到着/混雑を60秒ごとに記録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2 前提条件：時間軸・出発地・台数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結果の解釈で質問されやすい設定を明示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900000"/>
          <a:ext cx="55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1944000"/>
                <a:gridCol w="2124000"/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</a:rPr>
                        <a:t>項目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</a:rPr>
                        <a:t>設定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</a:rPr>
                        <a:t>解釈上の注意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シミュレーション時間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0〜21,600秒（6時間）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実時間を6時間に線形圧縮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SUMO 0秒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車両の出発開始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浸水時系列のt0ではない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最初の閉鎖t0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SUMO上 789秒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small/10pctはt0前に全車到着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最終時点t7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SUMO上 21,600秒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latin typeface="游ゴシック"/>
                        </a:rPr>
                        <a:t>閉鎖後挙動はfull試行で確認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999" y="900000"/>
          <a:ext cx="558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1368000"/>
                <a:gridCol w="3060000"/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項目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設定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</a:rPr>
                        <a:t>根拠・作り方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出発地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40地点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250m人口メッシュ代表点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目的地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安全避難所19件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洪水対応避難所をSUMO edgeへスナップ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40台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各メッシュ1台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10pct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120台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fullを各メッシュごとに約1割へ縮小・切り上げ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1,001台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游ゴシック"/>
                        </a:rPr>
                        <a:t>人口÷2.3人/世帯をメッシュごとに切り上げ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4680000"/>
            <a:ext cx="11473200" cy="136800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4752000"/>
            <a:ext cx="11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游ゴシック"/>
              </a:rPr>
              <a:t>可視化の注意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076000"/>
            <a:ext cx="110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游ゴシック"/>
              </a:rPr>
              <a:t>現在のHTMLアニメーションはsmall/10pctの車両移動確認が中心であり、両試行はt0前に到着する。
道路閉鎖後の交通挙動は、full試行の結果表・混雑指標・閉鎖時系列を併用して説明する。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2 結果：常総市シナリオA（自家用車のみ）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900000"/>
          <a:ext cx="11113199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620000"/>
                <a:gridCol w="1620000"/>
                <a:gridCol w="1440000"/>
                <a:gridCol w="3193199"/>
              </a:tblGrid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試行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車両数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到着台数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未到着台数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到着率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位置づけ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動作確認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10pct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120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120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100%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縮小比較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常総市主結果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0000" y="3780000"/>
            <a:ext cx="11113200" cy="9000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851999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游ゴシック"/>
              </a:rPr>
              <a:t>未到着14台について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140000"/>
            <a:ext cx="104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游ゴシック"/>
              </a:rPr>
              <a:t>閉鎖済みの出発edgeから発車できなかった車両として記録。
プログラムエラーではなく、今回の閉鎖条件下での「逃げ遅れ候補」として扱う。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860000"/>
            <a:ext cx="11113200" cy="1368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932000"/>
            <a:ext cx="10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全41市区町村（10pct試行）の結果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256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● 全41市区町村でsmall・10pct完了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● 10pct試行：計23,054台、逃げ遅れ合計 0台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游ゴシック"/>
              </a:rPr>
              <a:t>● full試行：代表6市区町村で実行（全員到着）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2 結果：主要避難路別の混雑（full試行）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900000"/>
          <a:ext cx="111132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800000"/>
                <a:gridCol w="1800000"/>
                <a:gridCol w="2160000"/>
                <a:gridCol w="2653200"/>
              </a:tblGrid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路線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最大走行台数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最大停止台数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最低平均速度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</a:rPr>
                        <a:t>約 km/h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県道357号</a:t>
                      </a:r>
                    </a:p>
                    <a:p>
                      <a:r>
                        <a:t>（谷和原筑西線）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137台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105台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1.64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約 5.9 km/h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国道294号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61台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7台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4.41 m/s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游ゴシック"/>
                        </a:rPr>
                        <a:t>約 15.9 km/h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0000" y="3780000"/>
            <a:ext cx="11113200" cy="7200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851999"/>
            <a:ext cx="10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1D1D"/>
                </a:solidFill>
                <a:latin typeface="游ゴシック"/>
              </a:rPr>
              <a:t>県道357号：停止台数105台、最低速度1.64 m/s（約6 km/h）
  → 自家用車避難集中時に深刻な渋滞が発生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4680000"/>
            <a:ext cx="52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475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游ゴシック"/>
              </a:rPr>
              <a:t>Phase 2で分かること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5040000"/>
            <a:ext cx="48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到着できたかの判定（到着/未到着）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どの道路に負荷が集中するか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速度低下・停止が発生する区間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4680000"/>
            <a:ext cx="53532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0" y="475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游ゴシック"/>
              </a:rPr>
              <a:t>Phase 2でわからないこと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5040000"/>
            <a:ext cx="48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車なし世帯・高齢者の避難可否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バスが渋滞を緩和するか（Phase 3で比較）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游ゴシック"/>
              </a:rPr>
              <a:t>・ 出発時刻ばらつきの影響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Phase 1 と Phase 2 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900000"/>
          <a:ext cx="114732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0"/>
                <a:gridCol w="4813200"/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観点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Phase 1（静的）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Phase 2（動的）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分析手法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道路閉鎖後の最短経路の有無を判定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車両を実際に走らせて結果を観測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渋滞の考慮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なし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あり（速度低下・停止が記録される）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指標の単位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「経路なし」メッシュ数・人口数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「実際に未到着」の車両台数</a:t>
                      </a:r>
                    </a:p>
                  </a:txBody>
                  <a:tcPr/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常総市の結果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到達不可メッシュ17・人口952名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full試行で14台が発車できず逃げ遅れ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わかること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「そもそも道がない」場所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「道はあるが渋滞・閉鎖で間に合わない」状況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6192000"/>
            <a:ext cx="11473200" cy="432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6228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游ゴシック"/>
              </a:rPr>
              <a:t>注意：Phase 1の到達不可人数（952名）とPhase 2の未到着車両数（14台）は単位が異なる → 直接比較しない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90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游ゴシック"/>
              </a:rPr>
              <a:t>今後の予定（Phase 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503999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游ゴシック"/>
              </a:rPr>
              <a:t>デマンド交通バスを追加し、自家用車のみのシナリオAと比較する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5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648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游ゴシック"/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900000"/>
          <a:ext cx="114732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680000"/>
                <a:gridCol w="48132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比較軸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Phase 2（シナリオA）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</a:rPr>
                        <a:t>Phase 3（シナリオB）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道路上の車両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自家用車のみ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自家用車 ＋ バス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対象者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車保有世帯のみ追跡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車なし・高齢者もバスで追跡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主要路渋滞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県道357号等で深刻な渋滞を確認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バス導入による緩和効果を測定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結論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比較基準（ベースライン）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游ゴシック"/>
                        </a:rPr>
                        <a:t>RQへの定量的な回答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320000"/>
            <a:ext cx="1147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游ゴシック"/>
              </a:rPr>
              <a:t>Phase 3 実装ステップ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4680000"/>
            <a:ext cx="2700000" cy="18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4752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① バス設定仕様固定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22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游ゴシック"/>
              </a:rPr>
              <a:t>台数・定員・運行方式
利用者割り当てルール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6000" y="5328000"/>
            <a:ext cx="25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6000" y="4680000"/>
            <a:ext cx="2700000" cy="18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7999" y="4752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② シナリオB実装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7999" y="522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游ゴシック"/>
              </a:rPr>
              <a:t>常総市 small
SUMO/TraCI バス投入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2000" y="5328000"/>
            <a:ext cx="25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2000" y="4680000"/>
            <a:ext cx="2700000" cy="18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999" y="4752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③ A/B 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999" y="522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游ゴシック"/>
              </a:rPr>
              <a:t>到着率・混雑・
バス輸送人数を算出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7999" y="5328000"/>
            <a:ext cx="251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游ゴシック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7999" y="4680000"/>
            <a:ext cx="2700000" cy="180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9999" y="4752000"/>
            <a:ext cx="25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④ 卒論執筆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9999" y="5220000"/>
            <a:ext cx="25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游ゴシック"/>
              </a:rPr>
              <a:t>Phase 2/3 本文
第3〜5章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