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358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B907D6-BE2E-4309-AE00-BE648F8E3900}" v="12" dt="2026-05-22T03:52:12.97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2" d="100"/>
          <a:sy n="62" d="100"/>
        </p:scale>
        <p:origin x="368" y="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古賀 玲次" userId="d2163e72-4ab4-4222-a3af-dcf152636f21" providerId="ADAL" clId="{4CED5798-B995-4604-96BA-7E646074EB82}"/>
    <pc:docChg chg="undo custSel modSld">
      <pc:chgData name="古賀 玲次" userId="d2163e72-4ab4-4222-a3af-dcf152636f21" providerId="ADAL" clId="{4CED5798-B995-4604-96BA-7E646074EB82}" dt="2026-05-22T03:55:58.948" v="115" actId="1076"/>
      <pc:docMkLst>
        <pc:docMk/>
      </pc:docMkLst>
      <pc:sldChg chg="modSp mod">
        <pc:chgData name="古賀 玲次" userId="d2163e72-4ab4-4222-a3af-dcf152636f21" providerId="ADAL" clId="{4CED5798-B995-4604-96BA-7E646074EB82}" dt="2026-05-22T03:44:09.565" v="46" actId="1076"/>
        <pc:sldMkLst>
          <pc:docMk/>
          <pc:sldMk cId="0" sldId="256"/>
        </pc:sldMkLst>
        <pc:spChg chg="mod">
          <ac:chgData name="古賀 玲次" userId="d2163e72-4ab4-4222-a3af-dcf152636f21" providerId="ADAL" clId="{4CED5798-B995-4604-96BA-7E646074EB82}" dt="2026-05-22T03:41:32.125" v="34" actId="122"/>
          <ac:spMkLst>
            <pc:docMk/>
            <pc:sldMk cId="0" sldId="256"/>
            <ac:spMk id="3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3:01.004" v="42" actId="1076"/>
          <ac:spMkLst>
            <pc:docMk/>
            <pc:sldMk cId="0" sldId="256"/>
            <ac:spMk id="4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1:22.185" v="33" actId="14100"/>
          <ac:spMkLst>
            <pc:docMk/>
            <pc:sldMk cId="0" sldId="256"/>
            <ac:spMk id="5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3:22.356" v="44" actId="1076"/>
          <ac:spMkLst>
            <pc:docMk/>
            <pc:sldMk cId="0" sldId="256"/>
            <ac:spMk id="6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3:52.475" v="45" actId="1076"/>
          <ac:spMkLst>
            <pc:docMk/>
            <pc:sldMk cId="0" sldId="256"/>
            <ac:spMk id="7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4:09.565" v="46" actId="1076"/>
          <ac:spMkLst>
            <pc:docMk/>
            <pc:sldMk cId="0" sldId="256"/>
            <ac:spMk id="8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4:09.565" v="46" actId="1076"/>
          <ac:spMkLst>
            <pc:docMk/>
            <pc:sldMk cId="0" sldId="256"/>
            <ac:spMk id="9" creationId="{00000000-0000-0000-0000-000000000000}"/>
          </ac:spMkLst>
        </pc:spChg>
      </pc:sldChg>
      <pc:sldChg chg="addSp modSp mod">
        <pc:chgData name="古賀 玲次" userId="d2163e72-4ab4-4222-a3af-dcf152636f21" providerId="ADAL" clId="{4CED5798-B995-4604-96BA-7E646074EB82}" dt="2026-05-22T03:47:02.071" v="67" actId="1076"/>
        <pc:sldMkLst>
          <pc:docMk/>
          <pc:sldMk cId="0" sldId="257"/>
        </pc:sldMkLst>
        <pc:spChg chg="mod">
          <ac:chgData name="古賀 玲次" userId="d2163e72-4ab4-4222-a3af-dcf152636f21" providerId="ADAL" clId="{4CED5798-B995-4604-96BA-7E646074EB82}" dt="2026-05-22T03:46:25.258" v="60" actId="1076"/>
          <ac:spMkLst>
            <pc:docMk/>
            <pc:sldMk cId="0" sldId="257"/>
            <ac:spMk id="8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5:48.052" v="52" actId="1076"/>
          <ac:spMkLst>
            <pc:docMk/>
            <pc:sldMk cId="0" sldId="257"/>
            <ac:spMk id="9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5:38.004" v="51" actId="1076"/>
          <ac:spMkLst>
            <pc:docMk/>
            <pc:sldMk cId="0" sldId="257"/>
            <ac:spMk id="10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6:30.611" v="61" actId="1076"/>
          <ac:spMkLst>
            <pc:docMk/>
            <pc:sldMk cId="0" sldId="257"/>
            <ac:spMk id="11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5:38.004" v="51" actId="1076"/>
          <ac:spMkLst>
            <pc:docMk/>
            <pc:sldMk cId="0" sldId="257"/>
            <ac:spMk id="12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5:48.052" v="52" actId="1076"/>
          <ac:spMkLst>
            <pc:docMk/>
            <pc:sldMk cId="0" sldId="257"/>
            <ac:spMk id="13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5:38.004" v="51" actId="1076"/>
          <ac:spMkLst>
            <pc:docMk/>
            <pc:sldMk cId="0" sldId="257"/>
            <ac:spMk id="14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6:41.307" v="63" actId="1076"/>
          <ac:spMkLst>
            <pc:docMk/>
            <pc:sldMk cId="0" sldId="257"/>
            <ac:spMk id="15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5:48.052" v="52" actId="1076"/>
          <ac:spMkLst>
            <pc:docMk/>
            <pc:sldMk cId="0" sldId="257"/>
            <ac:spMk id="17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5:38.004" v="51" actId="1076"/>
          <ac:spMkLst>
            <pc:docMk/>
            <pc:sldMk cId="0" sldId="257"/>
            <ac:spMk id="18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6:53.873" v="65" actId="1076"/>
          <ac:spMkLst>
            <pc:docMk/>
            <pc:sldMk cId="0" sldId="257"/>
            <ac:spMk id="19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5:38.004" v="51" actId="1076"/>
          <ac:spMkLst>
            <pc:docMk/>
            <pc:sldMk cId="0" sldId="257"/>
            <ac:spMk id="20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5:48.052" v="52" actId="1076"/>
          <ac:spMkLst>
            <pc:docMk/>
            <pc:sldMk cId="0" sldId="257"/>
            <ac:spMk id="21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7:02.071" v="67" actId="1076"/>
          <ac:spMkLst>
            <pc:docMk/>
            <pc:sldMk cId="0" sldId="257"/>
            <ac:spMk id="23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5:06.969" v="50" actId="255"/>
          <ac:spMkLst>
            <pc:docMk/>
            <pc:sldMk cId="0" sldId="257"/>
            <ac:spMk id="24" creationId="{00000000-0000-0000-0000-000000000000}"/>
          </ac:spMkLst>
        </pc:spChg>
        <pc:spChg chg="add mod">
          <ac:chgData name="古賀 玲次" userId="d2163e72-4ab4-4222-a3af-dcf152636f21" providerId="ADAL" clId="{4CED5798-B995-4604-96BA-7E646074EB82}" dt="2026-05-22T03:44:24.220" v="48" actId="571"/>
          <ac:spMkLst>
            <pc:docMk/>
            <pc:sldMk cId="0" sldId="257"/>
            <ac:spMk id="25" creationId="{E1D9DF31-2513-1E09-559C-5F985D384824}"/>
          </ac:spMkLst>
        </pc:spChg>
      </pc:sldChg>
      <pc:sldChg chg="modSp mod">
        <pc:chgData name="古賀 玲次" userId="d2163e72-4ab4-4222-a3af-dcf152636f21" providerId="ADAL" clId="{4CED5798-B995-4604-96BA-7E646074EB82}" dt="2026-05-22T03:49:22.523" v="83" actId="2710"/>
        <pc:sldMkLst>
          <pc:docMk/>
          <pc:sldMk cId="0" sldId="258"/>
        </pc:sldMkLst>
        <pc:spChg chg="mod">
          <ac:chgData name="古賀 玲次" userId="d2163e72-4ab4-4222-a3af-dcf152636f21" providerId="ADAL" clId="{4CED5798-B995-4604-96BA-7E646074EB82}" dt="2026-05-22T03:47:59.433" v="68" actId="1076"/>
          <ac:spMkLst>
            <pc:docMk/>
            <pc:sldMk cId="0" sldId="258"/>
            <ac:spMk id="7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8:26.635" v="71" actId="2710"/>
          <ac:spMkLst>
            <pc:docMk/>
            <pc:sldMk cId="0" sldId="258"/>
            <ac:spMk id="8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7:59.433" v="68" actId="1076"/>
          <ac:spMkLst>
            <pc:docMk/>
            <pc:sldMk cId="0" sldId="258"/>
            <ac:spMk id="9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7:59.433" v="68" actId="1076"/>
          <ac:spMkLst>
            <pc:docMk/>
            <pc:sldMk cId="0" sldId="258"/>
            <ac:spMk id="10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7:59.433" v="68" actId="1076"/>
          <ac:spMkLst>
            <pc:docMk/>
            <pc:sldMk cId="0" sldId="258"/>
            <ac:spMk id="12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8:56.206" v="77"/>
          <ac:spMkLst>
            <pc:docMk/>
            <pc:sldMk cId="0" sldId="258"/>
            <ac:spMk id="13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8:17.064" v="70" actId="1076"/>
          <ac:spMkLst>
            <pc:docMk/>
            <pc:sldMk cId="0" sldId="258"/>
            <ac:spMk id="14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8:07.451" v="69" actId="1076"/>
          <ac:spMkLst>
            <pc:docMk/>
            <pc:sldMk cId="0" sldId="258"/>
            <ac:spMk id="15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7:59.433" v="68" actId="1076"/>
          <ac:spMkLst>
            <pc:docMk/>
            <pc:sldMk cId="0" sldId="258"/>
            <ac:spMk id="16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7:59.433" v="68" actId="1076"/>
          <ac:spMkLst>
            <pc:docMk/>
            <pc:sldMk cId="0" sldId="258"/>
            <ac:spMk id="17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9:06.322" v="79" actId="2710"/>
          <ac:spMkLst>
            <pc:docMk/>
            <pc:sldMk cId="0" sldId="258"/>
            <ac:spMk id="18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8:17.064" v="70" actId="1076"/>
          <ac:spMkLst>
            <pc:docMk/>
            <pc:sldMk cId="0" sldId="258"/>
            <ac:spMk id="19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7:59.433" v="68" actId="1076"/>
          <ac:spMkLst>
            <pc:docMk/>
            <pc:sldMk cId="0" sldId="258"/>
            <ac:spMk id="20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8:07.451" v="69" actId="1076"/>
          <ac:spMkLst>
            <pc:docMk/>
            <pc:sldMk cId="0" sldId="258"/>
            <ac:spMk id="21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49:22.523" v="83" actId="2710"/>
          <ac:spMkLst>
            <pc:docMk/>
            <pc:sldMk cId="0" sldId="258"/>
            <ac:spMk id="23" creationId="{00000000-0000-0000-0000-000000000000}"/>
          </ac:spMkLst>
        </pc:spChg>
      </pc:sldChg>
      <pc:sldChg chg="modSp mod">
        <pc:chgData name="古賀 玲次" userId="d2163e72-4ab4-4222-a3af-dcf152636f21" providerId="ADAL" clId="{4CED5798-B995-4604-96BA-7E646074EB82}" dt="2026-05-22T03:51:08.182" v="90" actId="1076"/>
        <pc:sldMkLst>
          <pc:docMk/>
          <pc:sldMk cId="0" sldId="259"/>
        </pc:sldMkLst>
        <pc:spChg chg="mod">
          <ac:chgData name="古賀 玲次" userId="d2163e72-4ab4-4222-a3af-dcf152636f21" providerId="ADAL" clId="{4CED5798-B995-4604-96BA-7E646074EB82}" dt="2026-05-22T03:50:36.090" v="87" actId="1076"/>
          <ac:spMkLst>
            <pc:docMk/>
            <pc:sldMk cId="0" sldId="259"/>
            <ac:spMk id="7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50:36.090" v="87" actId="1076"/>
          <ac:spMkLst>
            <pc:docMk/>
            <pc:sldMk cId="0" sldId="259"/>
            <ac:spMk id="8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51:08.182" v="90" actId="1076"/>
          <ac:spMkLst>
            <pc:docMk/>
            <pc:sldMk cId="0" sldId="259"/>
            <ac:spMk id="9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50:48.682" v="88" actId="107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50:36.090" v="87" actId="1076"/>
          <ac:spMkLst>
            <pc:docMk/>
            <pc:sldMk cId="0" sldId="259"/>
            <ac:spMk id="11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50:36.090" v="87" actId="1076"/>
          <ac:spMkLst>
            <pc:docMk/>
            <pc:sldMk cId="0" sldId="259"/>
            <ac:spMk id="12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51:08.182" v="90" actId="1076"/>
          <ac:spMkLst>
            <pc:docMk/>
            <pc:sldMk cId="0" sldId="259"/>
            <ac:spMk id="13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50:48.682" v="88" actId="1076"/>
          <ac:spMkLst>
            <pc:docMk/>
            <pc:sldMk cId="0" sldId="259"/>
            <ac:spMk id="14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50:36.090" v="87" actId="1076"/>
          <ac:spMkLst>
            <pc:docMk/>
            <pc:sldMk cId="0" sldId="259"/>
            <ac:spMk id="15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51:08.182" v="90" actId="1076"/>
          <ac:spMkLst>
            <pc:docMk/>
            <pc:sldMk cId="0" sldId="259"/>
            <ac:spMk id="17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50:48.682" v="88" actId="1076"/>
          <ac:spMkLst>
            <pc:docMk/>
            <pc:sldMk cId="0" sldId="259"/>
            <ac:spMk id="18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50:36.090" v="87" actId="1076"/>
          <ac:spMkLst>
            <pc:docMk/>
            <pc:sldMk cId="0" sldId="259"/>
            <ac:spMk id="19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50:36.090" v="87" actId="1076"/>
          <ac:spMkLst>
            <pc:docMk/>
            <pc:sldMk cId="0" sldId="259"/>
            <ac:spMk id="20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51:08.182" v="90" actId="1076"/>
          <ac:spMkLst>
            <pc:docMk/>
            <pc:sldMk cId="0" sldId="259"/>
            <ac:spMk id="21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50:08.225" v="86" actId="1076"/>
          <ac:spMkLst>
            <pc:docMk/>
            <pc:sldMk cId="0" sldId="259"/>
            <ac:spMk id="22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50:08.225" v="86" actId="1076"/>
          <ac:spMkLst>
            <pc:docMk/>
            <pc:sldMk cId="0" sldId="259"/>
            <ac:spMk id="23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50:08.225" v="86" actId="1076"/>
          <ac:spMkLst>
            <pc:docMk/>
            <pc:sldMk cId="0" sldId="259"/>
            <ac:spMk id="24" creationId="{00000000-0000-0000-0000-000000000000}"/>
          </ac:spMkLst>
        </pc:spChg>
      </pc:sldChg>
      <pc:sldChg chg="modSp mod">
        <pc:chgData name="古賀 玲次" userId="d2163e72-4ab4-4222-a3af-dcf152636f21" providerId="ADAL" clId="{4CED5798-B995-4604-96BA-7E646074EB82}" dt="2026-05-22T03:52:24.159" v="106" actId="2710"/>
        <pc:sldMkLst>
          <pc:docMk/>
          <pc:sldMk cId="0" sldId="264"/>
        </pc:sldMkLst>
        <pc:spChg chg="mod">
          <ac:chgData name="古賀 玲次" userId="d2163e72-4ab4-4222-a3af-dcf152636f21" providerId="ADAL" clId="{4CED5798-B995-4604-96BA-7E646074EB82}" dt="2026-05-22T03:52:15.735" v="105" actId="20577"/>
          <ac:spMkLst>
            <pc:docMk/>
            <pc:sldMk cId="0" sldId="264"/>
            <ac:spMk id="5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52:24.159" v="106" actId="2710"/>
          <ac:spMkLst>
            <pc:docMk/>
            <pc:sldMk cId="0" sldId="264"/>
            <ac:spMk id="12" creationId="{00000000-0000-0000-0000-000000000000}"/>
          </ac:spMkLst>
        </pc:spChg>
      </pc:sldChg>
      <pc:sldChg chg="modSp mod">
        <pc:chgData name="古賀 玲次" userId="d2163e72-4ab4-4222-a3af-dcf152636f21" providerId="ADAL" clId="{4CED5798-B995-4604-96BA-7E646074EB82}" dt="2026-05-22T03:54:00.398" v="109" actId="2710"/>
        <pc:sldMkLst>
          <pc:docMk/>
          <pc:sldMk cId="0" sldId="266"/>
        </pc:sldMkLst>
        <pc:spChg chg="mod">
          <ac:chgData name="古賀 玲次" userId="d2163e72-4ab4-4222-a3af-dcf152636f21" providerId="ADAL" clId="{4CED5798-B995-4604-96BA-7E646074EB82}" dt="2026-05-22T03:53:35.288" v="108" actId="122"/>
          <ac:spMkLst>
            <pc:docMk/>
            <pc:sldMk cId="0" sldId="266"/>
            <ac:spMk id="9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54:00.398" v="109" actId="2710"/>
          <ac:spMkLst>
            <pc:docMk/>
            <pc:sldMk cId="0" sldId="266"/>
            <ac:spMk id="12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54:00.398" v="109" actId="2710"/>
          <ac:spMkLst>
            <pc:docMk/>
            <pc:sldMk cId="0" sldId="266"/>
            <ac:spMk id="15" creationId="{00000000-0000-0000-0000-000000000000}"/>
          </ac:spMkLst>
        </pc:spChg>
      </pc:sldChg>
      <pc:sldChg chg="modSp mod">
        <pc:chgData name="古賀 玲次" userId="d2163e72-4ab4-4222-a3af-dcf152636f21" providerId="ADAL" clId="{4CED5798-B995-4604-96BA-7E646074EB82}" dt="2026-05-22T03:54:59.664" v="111" actId="122"/>
        <pc:sldMkLst>
          <pc:docMk/>
          <pc:sldMk cId="0" sldId="267"/>
        </pc:sldMkLst>
        <pc:spChg chg="mod">
          <ac:chgData name="古賀 玲次" userId="d2163e72-4ab4-4222-a3af-dcf152636f21" providerId="ADAL" clId="{4CED5798-B995-4604-96BA-7E646074EB82}" dt="2026-05-22T03:54:17.264" v="110" actId="1076"/>
          <ac:spMkLst>
            <pc:docMk/>
            <pc:sldMk cId="0" sldId="267"/>
            <ac:spMk id="8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54:59.664" v="111" actId="122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古賀 玲次" userId="d2163e72-4ab4-4222-a3af-dcf152636f21" providerId="ADAL" clId="{4CED5798-B995-4604-96BA-7E646074EB82}" dt="2026-05-22T03:55:58.948" v="115" actId="1076"/>
        <pc:sldMkLst>
          <pc:docMk/>
          <pc:sldMk cId="0" sldId="268"/>
        </pc:sldMkLst>
        <pc:spChg chg="mod">
          <ac:chgData name="古賀 玲次" userId="d2163e72-4ab4-4222-a3af-dcf152636f21" providerId="ADAL" clId="{4CED5798-B995-4604-96BA-7E646074EB82}" dt="2026-05-22T03:55:50.266" v="114" actId="1076"/>
          <ac:spMkLst>
            <pc:docMk/>
            <pc:sldMk cId="0" sldId="268"/>
            <ac:spMk id="12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55:58.948" v="115" actId="1076"/>
          <ac:spMkLst>
            <pc:docMk/>
            <pc:sldMk cId="0" sldId="268"/>
            <ac:spMk id="13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55:50.266" v="114" actId="1076"/>
          <ac:spMkLst>
            <pc:docMk/>
            <pc:sldMk cId="0" sldId="268"/>
            <ac:spMk id="16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55:58.948" v="115" actId="1076"/>
          <ac:spMkLst>
            <pc:docMk/>
            <pc:sldMk cId="0" sldId="268"/>
            <ac:spMk id="17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55:50.266" v="114" actId="1076"/>
          <ac:spMkLst>
            <pc:docMk/>
            <pc:sldMk cId="0" sldId="268"/>
            <ac:spMk id="20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55:58.948" v="115" actId="1076"/>
          <ac:spMkLst>
            <pc:docMk/>
            <pc:sldMk cId="0" sldId="268"/>
            <ac:spMk id="21" creationId="{00000000-0000-0000-0000-000000000000}"/>
          </ac:spMkLst>
        </pc:spChg>
        <pc:spChg chg="mod">
          <ac:chgData name="古賀 玲次" userId="d2163e72-4ab4-4222-a3af-dcf152636f21" providerId="ADAL" clId="{4CED5798-B995-4604-96BA-7E646074EB82}" dt="2026-05-22T03:55:50.266" v="114" actId="1076"/>
          <ac:spMkLst>
            <pc:docMk/>
            <pc:sldMk cId="0" sldId="268"/>
            <ac:spMk id="2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1BF8C0-1AC3-4ACA-AA65-73B95824CC49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3568CA-8AD4-462C-BC67-B710F5AC22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49043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3568CA-8AD4-462C-BC67-B710F5AC22AA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6975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0000" y="452063"/>
            <a:ext cx="10977330" cy="59898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0000" y="452063"/>
            <a:ext cx="142239" cy="598983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43604" y="2889280"/>
            <a:ext cx="1031236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dirty="0" err="1">
                <a:solidFill>
                  <a:srgbClr val="1E293B"/>
                </a:solidFill>
                <a:latin typeface="游ゴシック"/>
              </a:rPr>
              <a:t>河川氾濫時における自家用車避難と</a:t>
            </a:r>
            <a:r>
              <a:rPr sz="2800" b="1" dirty="0">
                <a:solidFill>
                  <a:srgbClr val="1E293B"/>
                </a:solidFill>
                <a:latin typeface="游ゴシック"/>
              </a:rPr>
              <a:t>
</a:t>
            </a:r>
            <a:r>
              <a:rPr sz="2800" b="1" dirty="0" err="1">
                <a:solidFill>
                  <a:srgbClr val="1E293B"/>
                </a:solidFill>
                <a:latin typeface="游ゴシック"/>
              </a:rPr>
              <a:t>デマンド交通バス活用の比較シミュレーション</a:t>
            </a:r>
            <a:endParaRPr sz="2800" b="1" dirty="0">
              <a:solidFill>
                <a:srgbClr val="1E293B"/>
              </a:solidFill>
              <a:latin typeface="游ゴシック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22239" y="1514942"/>
            <a:ext cx="34245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 err="1">
                <a:solidFill>
                  <a:srgbClr val="64748B"/>
                </a:solidFill>
                <a:latin typeface="游ゴシック"/>
              </a:rPr>
              <a:t>卒業研究</a:t>
            </a:r>
            <a:r>
              <a:rPr sz="1600" b="0" dirty="0">
                <a:solidFill>
                  <a:srgbClr val="64748B"/>
                </a:solidFill>
                <a:latin typeface="游ゴシック"/>
              </a:rPr>
              <a:t> </a:t>
            </a:r>
            <a:r>
              <a:rPr sz="1600" b="0" dirty="0" err="1">
                <a:solidFill>
                  <a:srgbClr val="64748B"/>
                </a:solidFill>
                <a:latin typeface="游ゴシック"/>
              </a:rPr>
              <a:t>進捗発表会</a:t>
            </a:r>
            <a:endParaRPr sz="1600" b="0" dirty="0">
              <a:solidFill>
                <a:srgbClr val="64748B"/>
              </a:solidFill>
              <a:latin typeface="游ゴシック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551506" y="4514444"/>
            <a:ext cx="34245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1600" dirty="0">
                <a:solidFill>
                  <a:srgbClr val="1E293B"/>
                </a:solidFill>
                <a:latin typeface="游ゴシック"/>
              </a:rPr>
              <a:t>眞坂</a:t>
            </a:r>
            <a:r>
              <a:rPr sz="1600" b="0" dirty="0" err="1">
                <a:solidFill>
                  <a:srgbClr val="1E293B"/>
                </a:solidFill>
                <a:latin typeface="游ゴシック"/>
              </a:rPr>
              <a:t>研究室</a:t>
            </a:r>
            <a:r>
              <a:rPr sz="1600" b="0" dirty="0">
                <a:solidFill>
                  <a:srgbClr val="1E293B"/>
                </a:solidFill>
                <a:latin typeface="游ゴシック"/>
              </a:rPr>
              <a:t>　</a:t>
            </a:r>
            <a:r>
              <a:rPr sz="1600" b="0" dirty="0" err="1">
                <a:solidFill>
                  <a:srgbClr val="1E293B"/>
                </a:solidFill>
                <a:latin typeface="游ゴシック"/>
              </a:rPr>
              <a:t>氏名</a:t>
            </a:r>
            <a:r>
              <a:rPr sz="1600" b="0" dirty="0">
                <a:solidFill>
                  <a:srgbClr val="1E293B"/>
                </a:solidFill>
                <a:latin typeface="游ゴシック"/>
              </a:rPr>
              <a:t>：</a:t>
            </a:r>
            <a:r>
              <a:rPr lang="ja-JP" altLang="en-US" sz="1600" b="0" dirty="0">
                <a:solidFill>
                  <a:srgbClr val="1E293B"/>
                </a:solidFill>
                <a:latin typeface="游ゴシック"/>
              </a:rPr>
              <a:t>古賀玲次</a:t>
            </a:r>
            <a:endParaRPr sz="1600" b="0" dirty="0">
              <a:solidFill>
                <a:srgbClr val="1E293B"/>
              </a:solidFill>
              <a:latin typeface="游ゴシック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551506" y="4838444"/>
            <a:ext cx="34245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4748B"/>
                </a:solidFill>
                <a:latin typeface="游ゴシック"/>
              </a:rPr>
              <a:t>2026年07月04日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" y="90000"/>
            <a:ext cx="1152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游ゴシック"/>
              </a:rPr>
              <a:t>研究背景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503999"/>
            <a:ext cx="115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FDBFE"/>
                </a:solidFill>
                <a:latin typeface="游ゴシック"/>
              </a:rPr>
              <a:t>2015年 鬼怒川氾濫を背景とした避難シミュレーション研究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60000"/>
            <a:ext cx="12193200" cy="54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00000" y="6480000"/>
            <a:ext cx="10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0000" y="2096779"/>
            <a:ext cx="2700000" cy="252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0000" y="2056169"/>
            <a:ext cx="2700000" cy="50399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2000" y="2132780"/>
            <a:ext cx="255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游ゴシック"/>
              </a:rPr>
              <a:t>堤防決壊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2811479"/>
            <a:ext cx="2556000" cy="1327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sz="1400" b="0" dirty="0">
                <a:solidFill>
                  <a:srgbClr val="1E293B"/>
                </a:solidFill>
                <a:latin typeface="游ゴシック"/>
              </a:rPr>
              <a:t>2015年9月10日
</a:t>
            </a:r>
            <a:r>
              <a:rPr sz="1400" b="0" dirty="0" err="1">
                <a:solidFill>
                  <a:srgbClr val="1E293B"/>
                </a:solidFill>
                <a:latin typeface="游ゴシック"/>
              </a:rPr>
              <a:t>茨城県常総市三坂町付近</a:t>
            </a:r>
            <a:r>
              <a:rPr sz="1400" b="0" dirty="0">
                <a:solidFill>
                  <a:srgbClr val="1E293B"/>
                </a:solidFill>
                <a:latin typeface="游ゴシック"/>
              </a:rPr>
              <a:t>
</a:t>
            </a:r>
            <a:r>
              <a:rPr sz="1400" b="0" dirty="0" err="1">
                <a:solidFill>
                  <a:srgbClr val="1E293B"/>
                </a:solidFill>
                <a:latin typeface="游ゴシック"/>
              </a:rPr>
              <a:t>鬼怒川左岸が決壊</a:t>
            </a:r>
            <a:endParaRPr sz="1400" b="0" dirty="0">
              <a:solidFill>
                <a:srgbClr val="1E293B"/>
              </a:solidFill>
              <a:latin typeface="游ゴシック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204000" y="2096779"/>
            <a:ext cx="2700000" cy="252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204000" y="2056169"/>
            <a:ext cx="2700000" cy="50399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76000" y="2132780"/>
            <a:ext cx="255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游ゴシック"/>
              </a:rPr>
              <a:t>浸水・道路閉鎖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76000" y="2980511"/>
            <a:ext cx="2556000" cy="896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sz="1400" b="0" dirty="0" err="1">
                <a:solidFill>
                  <a:srgbClr val="1E293B"/>
                </a:solidFill>
                <a:latin typeface="游ゴシック"/>
              </a:rPr>
              <a:t>広範囲の浸水により</a:t>
            </a:r>
            <a:r>
              <a:rPr sz="1400" b="0" dirty="0">
                <a:solidFill>
                  <a:srgbClr val="1E293B"/>
                </a:solidFill>
                <a:latin typeface="游ゴシック"/>
              </a:rPr>
              <a:t>
</a:t>
            </a:r>
            <a:r>
              <a:rPr sz="1400" b="0" dirty="0" err="1">
                <a:solidFill>
                  <a:srgbClr val="1E293B"/>
                </a:solidFill>
                <a:latin typeface="游ゴシック"/>
              </a:rPr>
              <a:t>道路が通行困難になる</a:t>
            </a:r>
            <a:endParaRPr sz="1400" b="0" dirty="0">
              <a:solidFill>
                <a:srgbClr val="1E293B"/>
              </a:solidFill>
              <a:latin typeface="游ゴシック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048000" y="2096779"/>
            <a:ext cx="2700000" cy="252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048000" y="2056169"/>
            <a:ext cx="2700000" cy="50399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20000" y="2132780"/>
            <a:ext cx="255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游ゴシック"/>
              </a:rPr>
              <a:t>避難集中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0000" y="2980511"/>
            <a:ext cx="2556000" cy="896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sz="1400" b="0" dirty="0" err="1">
                <a:solidFill>
                  <a:srgbClr val="1E293B"/>
                </a:solidFill>
                <a:latin typeface="游ゴシック"/>
              </a:rPr>
              <a:t>自家用車避難が集中し</a:t>
            </a:r>
            <a:r>
              <a:rPr sz="1400" b="0" dirty="0">
                <a:solidFill>
                  <a:srgbClr val="1E293B"/>
                </a:solidFill>
                <a:latin typeface="游ゴシック"/>
              </a:rPr>
              <a:t>
</a:t>
            </a:r>
            <a:r>
              <a:rPr sz="1400" b="0" dirty="0" err="1">
                <a:solidFill>
                  <a:srgbClr val="1E293B"/>
                </a:solidFill>
                <a:latin typeface="游ゴシック"/>
              </a:rPr>
              <a:t>混雑・逃げ遅れの恐れ</a:t>
            </a:r>
            <a:endParaRPr sz="1400" b="0" dirty="0">
              <a:solidFill>
                <a:srgbClr val="1E293B"/>
              </a:solidFill>
              <a:latin typeface="游ゴシック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892000" y="2096779"/>
            <a:ext cx="2700000" cy="252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892000" y="2056169"/>
            <a:ext cx="2700000" cy="50399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64000" y="2132780"/>
            <a:ext cx="255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游ゴシック"/>
              </a:rPr>
              <a:t>要支援者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4000" y="3026922"/>
            <a:ext cx="2556000" cy="896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sz="1400" b="0" dirty="0" err="1">
                <a:solidFill>
                  <a:srgbClr val="1E293B"/>
                </a:solidFill>
                <a:latin typeface="游ゴシック"/>
              </a:rPr>
              <a:t>高齢者・車非保有者への</a:t>
            </a:r>
            <a:r>
              <a:rPr sz="1400" b="0" dirty="0">
                <a:solidFill>
                  <a:srgbClr val="1E293B"/>
                </a:solidFill>
                <a:latin typeface="游ゴシック"/>
              </a:rPr>
              <a:t>
</a:t>
            </a:r>
            <a:r>
              <a:rPr sz="1400" b="0" dirty="0" err="1">
                <a:solidFill>
                  <a:srgbClr val="1E293B"/>
                </a:solidFill>
                <a:latin typeface="游ゴシック"/>
              </a:rPr>
              <a:t>避難支援が必要</a:t>
            </a:r>
            <a:endParaRPr sz="1400" b="0" dirty="0">
              <a:solidFill>
                <a:srgbClr val="1E293B"/>
              </a:solidFill>
              <a:latin typeface="游ゴシック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0000" y="5346002"/>
            <a:ext cx="1080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dirty="0">
                <a:solidFill>
                  <a:srgbClr val="2563EB"/>
                </a:solidFill>
                <a:latin typeface="游ゴシック"/>
              </a:rPr>
              <a:t>→ </a:t>
            </a:r>
            <a:r>
              <a:rPr sz="3200" b="1" dirty="0" err="1">
                <a:solidFill>
                  <a:srgbClr val="2563EB"/>
                </a:solidFill>
                <a:latin typeface="游ゴシック"/>
              </a:rPr>
              <a:t>避難シミュレーションによる定量的な評価が必要</a:t>
            </a:r>
            <a:endParaRPr sz="3200" b="1" dirty="0">
              <a:solidFill>
                <a:srgbClr val="2563EB"/>
              </a:solidFill>
              <a:latin typeface="游ゴシック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" y="90000"/>
            <a:ext cx="1152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游ゴシック"/>
              </a:rPr>
              <a:t>研究目的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12193200" cy="54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00000" y="6480000"/>
            <a:ext cx="10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0000" y="1773000"/>
            <a:ext cx="11113200" cy="10800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20000" y="1845000"/>
            <a:ext cx="10800000" cy="927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sz="1900" b="1" dirty="0" err="1">
                <a:solidFill>
                  <a:srgbClr val="1E40AF"/>
                </a:solidFill>
                <a:latin typeface="游ゴシック"/>
              </a:rPr>
              <a:t>浸水時の道路閉鎖を考慮した避難シミュレーションを構築し</a:t>
            </a:r>
            <a:r>
              <a:rPr sz="1900" b="1" dirty="0">
                <a:solidFill>
                  <a:srgbClr val="1E40AF"/>
                </a:solidFill>
                <a:latin typeface="游ゴシック"/>
              </a:rPr>
              <a:t>、
</a:t>
            </a:r>
            <a:r>
              <a:rPr sz="1900" b="1" dirty="0" err="1">
                <a:solidFill>
                  <a:srgbClr val="1E40AF"/>
                </a:solidFill>
                <a:latin typeface="游ゴシック"/>
              </a:rPr>
              <a:t>自家用車避難とデマンド交通バス活用を定量的に比較する</a:t>
            </a:r>
            <a:endParaRPr sz="1900" b="1" dirty="0">
              <a:solidFill>
                <a:srgbClr val="1E40AF"/>
              </a:solidFill>
              <a:latin typeface="游ゴシック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0000" y="30330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40AF"/>
                </a:solidFill>
                <a:latin typeface="游ゴシック"/>
              </a:rPr>
              <a:t>今回の発表範囲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0" y="3393000"/>
            <a:ext cx="3600000" cy="162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0000" y="3393000"/>
            <a:ext cx="3600000" cy="50399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000" y="3429000"/>
            <a:ext cx="345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游ゴシック"/>
              </a:rPr>
              <a:t>Phase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000" y="3969000"/>
            <a:ext cx="3456000" cy="96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 dirty="0" err="1">
                <a:solidFill>
                  <a:srgbClr val="1E293B"/>
                </a:solidFill>
                <a:latin typeface="游ゴシック"/>
              </a:rPr>
              <a:t>静的な避難経路検索</a:t>
            </a:r>
            <a:r>
              <a:rPr sz="1300" b="0" dirty="0">
                <a:solidFill>
                  <a:srgbClr val="1E293B"/>
                </a:solidFill>
                <a:latin typeface="游ゴシック"/>
              </a:rPr>
              <a:t>
（</a:t>
            </a:r>
            <a:r>
              <a:rPr sz="1300" b="0" dirty="0" err="1">
                <a:solidFill>
                  <a:srgbClr val="1E293B"/>
                </a:solidFill>
                <a:latin typeface="游ゴシック"/>
              </a:rPr>
              <a:t>浸水×道路ネットワーク</a:t>
            </a:r>
            <a:r>
              <a:rPr sz="1300" b="0" dirty="0">
                <a:solidFill>
                  <a:srgbClr val="1E293B"/>
                </a:solidFill>
                <a:latin typeface="游ゴシック"/>
              </a:rPr>
              <a:t> </a:t>
            </a:r>
            <a:endParaRPr lang="en-US" sz="1300" b="0" dirty="0">
              <a:solidFill>
                <a:srgbClr val="1E293B"/>
              </a:solidFill>
              <a:latin typeface="游ゴシック"/>
            </a:endParaRPr>
          </a:p>
          <a:p>
            <a:pPr algn="ctr">
              <a:lnSpc>
                <a:spcPct val="150000"/>
              </a:lnSpc>
            </a:pPr>
            <a:r>
              <a:rPr lang="ja-JP" altLang="en-US" sz="1300" dirty="0">
                <a:solidFill>
                  <a:srgbClr val="1E293B"/>
                </a:solidFill>
                <a:latin typeface="游ゴシック"/>
              </a:rPr>
              <a:t>　</a:t>
            </a:r>
            <a:r>
              <a:rPr sz="1300" b="0" dirty="0">
                <a:solidFill>
                  <a:srgbClr val="1E293B"/>
                </a:solidFill>
                <a:latin typeface="游ゴシック"/>
              </a:rPr>
              <a:t>→ </a:t>
            </a:r>
            <a:r>
              <a:rPr sz="1300" b="0" dirty="0" err="1">
                <a:solidFill>
                  <a:srgbClr val="1E293B"/>
                </a:solidFill>
                <a:latin typeface="游ゴシック"/>
              </a:rPr>
              <a:t>経路の有無を確認</a:t>
            </a:r>
            <a:r>
              <a:rPr sz="1300" b="0" dirty="0">
                <a:solidFill>
                  <a:srgbClr val="1E293B"/>
                </a:solidFill>
                <a:latin typeface="游ゴシック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3590" y="3964500"/>
            <a:ext cx="28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64748B"/>
                </a:solidFill>
                <a:latin typeface="游ゴシック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56000" y="3393000"/>
            <a:ext cx="3600000" cy="162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56000" y="3393000"/>
            <a:ext cx="3600000" cy="503999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28000" y="3429000"/>
            <a:ext cx="345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游ゴシック"/>
              </a:rPr>
              <a:t>Phase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8000" y="3969000"/>
            <a:ext cx="3456000" cy="864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dirty="0" err="1">
                <a:solidFill>
                  <a:srgbClr val="1E293B"/>
                </a:solidFill>
                <a:latin typeface="游ゴシック"/>
              </a:rPr>
              <a:t>SUMOによる自家用車避難</a:t>
            </a:r>
            <a:endParaRPr lang="en-US" sz="1300" b="0" dirty="0">
              <a:solidFill>
                <a:srgbClr val="1E293B"/>
              </a:solidFill>
              <a:latin typeface="游ゴシック"/>
            </a:endParaRPr>
          </a:p>
          <a:p>
            <a:pPr algn="ctr">
              <a:lnSpc>
                <a:spcPct val="150000"/>
              </a:lnSpc>
            </a:pPr>
            <a:r>
              <a:rPr sz="1300" b="0" dirty="0" err="1">
                <a:solidFill>
                  <a:srgbClr val="1E293B"/>
                </a:solidFill>
                <a:latin typeface="游ゴシック"/>
              </a:rPr>
              <a:t>シミュレーション</a:t>
            </a:r>
            <a:r>
              <a:rPr sz="1300" b="0" dirty="0">
                <a:solidFill>
                  <a:srgbClr val="1E293B"/>
                </a:solidFill>
                <a:latin typeface="游ゴシック"/>
              </a:rPr>
              <a:t>
（</a:t>
            </a:r>
            <a:r>
              <a:rPr sz="1300" b="0" dirty="0" err="1">
                <a:solidFill>
                  <a:srgbClr val="1E293B"/>
                </a:solidFill>
                <a:latin typeface="游ゴシック"/>
              </a:rPr>
              <a:t>車両走行・動的道路閉鎖・混雑評価</a:t>
            </a:r>
            <a:r>
              <a:rPr sz="1300" b="0" dirty="0">
                <a:solidFill>
                  <a:srgbClr val="1E293B"/>
                </a:solidFill>
                <a:latin typeface="游ゴシック"/>
              </a:rPr>
              <a:t>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90" y="3964500"/>
            <a:ext cx="28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64748B"/>
                </a:solidFill>
                <a:latin typeface="游ゴシック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72000" y="3393000"/>
            <a:ext cx="3600000" cy="162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72000" y="3393000"/>
            <a:ext cx="3600000" cy="503999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43999" y="3429000"/>
            <a:ext cx="345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游ゴシック"/>
              </a:rPr>
              <a:t>Phase 3
（予定）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3999" y="3969000"/>
            <a:ext cx="3456000" cy="96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 dirty="0" err="1">
                <a:solidFill>
                  <a:srgbClr val="1E293B"/>
                </a:solidFill>
                <a:latin typeface="游ゴシック"/>
              </a:rPr>
              <a:t>デマンド交通バス導入</a:t>
            </a:r>
            <a:endParaRPr lang="en-US" sz="1300" b="0" dirty="0">
              <a:solidFill>
                <a:srgbClr val="1E293B"/>
              </a:solidFill>
              <a:latin typeface="游ゴシック"/>
            </a:endParaRPr>
          </a:p>
          <a:p>
            <a:pPr algn="ctr">
              <a:lnSpc>
                <a:spcPct val="150000"/>
              </a:lnSpc>
            </a:pPr>
            <a:r>
              <a:rPr sz="1300" b="0" dirty="0" err="1">
                <a:solidFill>
                  <a:srgbClr val="1E293B"/>
                </a:solidFill>
                <a:latin typeface="游ゴシック"/>
              </a:rPr>
              <a:t>シナリオA</a:t>
            </a:r>
            <a:r>
              <a:rPr sz="1300" b="0" dirty="0">
                <a:solidFill>
                  <a:srgbClr val="1E293B"/>
                </a:solidFill>
                <a:latin typeface="游ゴシック"/>
              </a:rPr>
              <a:t>/</a:t>
            </a:r>
            <a:r>
              <a:rPr sz="1300" b="0" dirty="0" err="1">
                <a:solidFill>
                  <a:srgbClr val="1E293B"/>
                </a:solidFill>
                <a:latin typeface="游ゴシック"/>
              </a:rPr>
              <a:t>B比較</a:t>
            </a:r>
            <a:r>
              <a:rPr sz="1300" b="0" dirty="0">
                <a:solidFill>
                  <a:srgbClr val="1E293B"/>
                </a:solidFill>
                <a:latin typeface="游ゴシック"/>
              </a:rPr>
              <a:t>
（</a:t>
            </a:r>
            <a:r>
              <a:rPr sz="1300" b="0" dirty="0" err="1">
                <a:solidFill>
                  <a:srgbClr val="1E293B"/>
                </a:solidFill>
                <a:latin typeface="游ゴシック"/>
              </a:rPr>
              <a:t>未着手</a:t>
            </a:r>
            <a:r>
              <a:rPr sz="1300" b="0" dirty="0">
                <a:solidFill>
                  <a:srgbClr val="1E293B"/>
                </a:solidFill>
                <a:latin typeface="游ゴシック"/>
              </a:rPr>
              <a:t>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" y="90000"/>
            <a:ext cx="1152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游ゴシック"/>
              </a:rPr>
              <a:t>研究全体の構成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12193200" cy="54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00000" y="6480000"/>
            <a:ext cx="10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4001" y="1944000"/>
            <a:ext cx="2448000" cy="32400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0001" y="2016000"/>
            <a:ext cx="237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dirty="0" err="1">
                <a:solidFill>
                  <a:srgbClr val="FFFFFF"/>
                </a:solidFill>
                <a:latin typeface="游ゴシック"/>
              </a:rPr>
              <a:t>実データ</a:t>
            </a:r>
            <a:endParaRPr sz="1600" b="1" dirty="0">
              <a:solidFill>
                <a:srgbClr val="FFFFFF"/>
              </a:solidFill>
              <a:latin typeface="游ゴシック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60001" y="2809182"/>
            <a:ext cx="2376000" cy="12396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sz="1300" b="0" dirty="0">
                <a:solidFill>
                  <a:srgbClr val="FFFFFF"/>
                </a:solidFill>
                <a:latin typeface="游ゴシック"/>
              </a:rPr>
              <a:t>浸水KML・A31a
</a:t>
            </a:r>
            <a:r>
              <a:rPr sz="1300" b="0" dirty="0" err="1">
                <a:solidFill>
                  <a:srgbClr val="FFFFFF"/>
                </a:solidFill>
                <a:latin typeface="游ゴシック"/>
              </a:rPr>
              <a:t>道路NW・人口</a:t>
            </a:r>
            <a:r>
              <a:rPr sz="1300" b="0" dirty="0">
                <a:solidFill>
                  <a:srgbClr val="FFFFFF"/>
                </a:solidFill>
                <a:latin typeface="游ゴシック"/>
              </a:rPr>
              <a:t>
</a:t>
            </a:r>
            <a:r>
              <a:rPr sz="1300" b="0" dirty="0" err="1">
                <a:solidFill>
                  <a:srgbClr val="FFFFFF"/>
                </a:solidFill>
                <a:latin typeface="游ゴシック"/>
              </a:rPr>
              <a:t>避難所・自動車保有</a:t>
            </a:r>
            <a:endParaRPr sz="1300" b="0" dirty="0">
              <a:solidFill>
                <a:srgbClr val="FFFFFF"/>
              </a:solidFill>
              <a:latin typeface="游ゴシック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844000" y="3363492"/>
            <a:ext cx="324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4748B"/>
                </a:solidFill>
                <a:latin typeface="游ゴシック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1" y="1944000"/>
            <a:ext cx="2448000" cy="324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76000" y="2016000"/>
            <a:ext cx="237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游ゴシック"/>
              </a:rPr>
              <a:t>Phase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76000" y="2809182"/>
            <a:ext cx="2376000" cy="12396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sz="1300" b="0">
                <a:solidFill>
                  <a:srgbClr val="FFFFFF"/>
                </a:solidFill>
                <a:latin typeface="游ゴシック"/>
              </a:rPr>
              <a:t>浸水×道路
→ 閉鎖タイムライン
→ 静的経路検索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59999" y="3363492"/>
            <a:ext cx="324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4748B"/>
                </a:solidFill>
                <a:latin typeface="游ゴシック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56001" y="1944000"/>
            <a:ext cx="2448000" cy="3240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92001" y="2016000"/>
            <a:ext cx="237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游ゴシック"/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2001" y="2809182"/>
            <a:ext cx="2376000" cy="12396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sz="1300" b="0">
                <a:solidFill>
                  <a:srgbClr val="FFFFFF"/>
                </a:solidFill>
                <a:latin typeface="游ゴシック"/>
              </a:rPr>
              <a:t>SUMO変換
→ TraCI動的閉鎖
→ 交通流評価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76000" y="3363492"/>
            <a:ext cx="324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4748B"/>
                </a:solidFill>
                <a:latin typeface="游ゴシック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72000" y="1944000"/>
            <a:ext cx="2448000" cy="32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08001" y="2016000"/>
            <a:ext cx="237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E293B"/>
                </a:solidFill>
                <a:latin typeface="游ゴシック"/>
              </a:rPr>
              <a:t>Phase 3
（予定）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8001" y="2809182"/>
            <a:ext cx="2376000" cy="12396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sz="1300" b="0">
                <a:solidFill>
                  <a:srgbClr val="1E293B"/>
                </a:solidFill>
                <a:latin typeface="游ゴシック"/>
              </a:rPr>
              <a:t>バス投入
→ シナリオB
→ A/B比較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016" y="5778000"/>
            <a:ext cx="216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dirty="0" err="1">
                <a:solidFill>
                  <a:srgbClr val="16A34A"/>
                </a:solidFill>
                <a:latin typeface="游ゴシック"/>
              </a:rPr>
              <a:t>完了</a:t>
            </a:r>
            <a:endParaRPr b="1" dirty="0">
              <a:solidFill>
                <a:srgbClr val="16A34A"/>
              </a:solidFill>
              <a:latin typeface="游ゴシック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389016" y="5778000"/>
            <a:ext cx="216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dirty="0" err="1">
                <a:solidFill>
                  <a:srgbClr val="16A34A"/>
                </a:solidFill>
                <a:latin typeface="游ゴシック"/>
              </a:rPr>
              <a:t>完了</a:t>
            </a:r>
            <a:endParaRPr b="1" dirty="0">
              <a:solidFill>
                <a:srgbClr val="16A34A"/>
              </a:solidFill>
              <a:latin typeface="游ゴシック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305015" y="5778000"/>
            <a:ext cx="216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>
                <a:solidFill>
                  <a:srgbClr val="F59E0B"/>
                </a:solidFill>
                <a:latin typeface="游ゴシック"/>
              </a:rPr>
              <a:t>次フェーズ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" y="90000"/>
            <a:ext cx="1152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游ゴシック"/>
              </a:rPr>
              <a:t>使用データ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503999"/>
            <a:ext cx="115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FDBFE"/>
                </a:solidFill>
                <a:latin typeface="游ゴシック"/>
              </a:rPr>
              <a:t>実データ → 派生データ → SUMO入力 の流れ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60000"/>
            <a:ext cx="12193200" cy="54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00000" y="6480000"/>
            <a:ext cx="10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0000" y="900000"/>
          <a:ext cx="11473200" cy="5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3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50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</a:rPr>
                        <a:t>用途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</a:rPr>
                        <a:t>使用データ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</a:rPr>
                        <a:t>SUMO上での役割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5000">
                <a:tc>
                  <a:txBody>
                    <a:bodyPr/>
                    <a:lstStyle/>
                    <a:p>
                      <a:pPr algn="ctr"/>
                      <a:r>
                        <a:rPr sz="1400" dirty="0" err="1">
                          <a:latin typeface="游ゴシック"/>
                        </a:rPr>
                        <a:t>浸水範囲</a:t>
                      </a:r>
                      <a:endParaRPr sz="1400" dirty="0">
                        <a:latin typeface="游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latin typeface="游ゴシック"/>
                        </a:rPr>
                        <a:t>GSI KML・A31a浸水想定区域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時刻別道路閉鎖の作成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500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道路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道路ネットワーク（GraphML）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SUMOネットワーク joso.net.xml に変換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500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対象地域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N03 行政区域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市区町村の抽出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500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出発地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250m人口メッシュ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避難車両の発生地点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500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車両数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人口・自動車保有台数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small / 10pct / full の車両数換算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500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目的地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避難施設データ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安全避難所のSUMO edgeへのスナップ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7500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道路閉鎖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Phase 1 閉鎖タイムライン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latin typeface="游ゴシック"/>
                        </a:rPr>
                        <a:t>TraCIによる動的通行止め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" y="90000"/>
            <a:ext cx="1152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游ゴシック"/>
              </a:rPr>
              <a:t>実データからSUMO入力まで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503999"/>
            <a:ext cx="115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FDBFE"/>
                </a:solidFill>
                <a:latin typeface="游ゴシック"/>
              </a:rPr>
              <a:t>実データをそのまま動かしているのではなく、研究用に加工した派生データを入力として使用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60000"/>
            <a:ext cx="12193200" cy="54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00000" y="6480000"/>
            <a:ext cx="10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88000" y="1007999"/>
            <a:ext cx="2520000" cy="34200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4000" y="1080000"/>
            <a:ext cx="244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游ゴシック"/>
              </a:rPr>
              <a:t>実データ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000" y="1728000"/>
            <a:ext cx="2304000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游ゴシック"/>
              </a:rPr>
              <a:t>浸水KML
A31a GML
道路NW (GraphML)
人口メッシュ
避難施設DB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44000" y="2340000"/>
            <a:ext cx="28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4748B"/>
                </a:solidFill>
                <a:latin typeface="游ゴシック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4000" y="1007999"/>
            <a:ext cx="2520000" cy="342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0000" y="1080000"/>
            <a:ext cx="244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游ゴシック"/>
              </a:rPr>
              <a:t>派生データ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2000" y="1728000"/>
            <a:ext cx="2304000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游ゴシック"/>
              </a:rPr>
              <a:t>closure_timeline.json
joso.net.xml
agent_origins.csv
shelters_sumo.csv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000" y="2340000"/>
            <a:ext cx="28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4748B"/>
                </a:solidFill>
                <a:latin typeface="游ゴシック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0000" y="1007999"/>
            <a:ext cx="2520000" cy="3420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56000" y="1080000"/>
            <a:ext cx="244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游ゴシック"/>
              </a:rPr>
              <a:t>SUMO入力
（TraCI）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8000" y="1728000"/>
            <a:ext cx="2304000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游ゴシック"/>
              </a:rPr>
              <a:t>edge閉鎖
車両経路XML
時刻別道路閉鎖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76000" y="2340000"/>
            <a:ext cx="28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4748B"/>
                </a:solidFill>
                <a:latin typeface="游ゴシック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36000" y="1007999"/>
            <a:ext cx="2520000" cy="342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72000" y="1080000"/>
            <a:ext cx="244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游ゴシック"/>
              </a:rPr>
              <a:t>シミュレーション
結果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1728000"/>
            <a:ext cx="2304000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游ゴシック"/>
              </a:rPr>
              <a:t>到着/未到着
混雑ログ
避難完了時刻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" y="90000"/>
            <a:ext cx="1152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游ゴシック"/>
              </a:rPr>
              <a:t>Phase 1：静的な避難経路検索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12193200" cy="54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00000" y="6480000"/>
            <a:ext cx="10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0000" y="900000"/>
            <a:ext cx="5040000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32000" y="972000"/>
            <a:ext cx="489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游ゴシック"/>
              </a:rPr>
              <a:t>実施内容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332000"/>
            <a:ext cx="4860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E293B"/>
                </a:solidFill>
                <a:latin typeface="游ゴシック"/>
              </a:rPr>
              <a:t>・ 浸水ポリゴン × 道路リンクで閉鎖候補を抽出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E293B"/>
                </a:solidFill>
                <a:latin typeface="游ゴシック"/>
              </a:rPr>
              <a:t>・ 浸水深0.5m以上の道路を通行困難として除外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E293B"/>
                </a:solidFill>
                <a:latin typeface="游ゴシック"/>
              </a:rPr>
              <a:t>・ 出発地から避難所への最短経路を探索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E293B"/>
                </a:solidFill>
                <a:latin typeface="游ゴシック"/>
              </a:rPr>
              <a:t>・ 常総市を中心に茨城県内41市区町村へ拡張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E293B"/>
                </a:solidFill>
                <a:latin typeface="游ゴシック"/>
              </a:rPr>
              <a:t>・ 市区町村別シナリオHTMLを生成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4608000"/>
            <a:ext cx="5040000" cy="126000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4680000"/>
            <a:ext cx="48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游ゴシック"/>
              </a:rPr>
              <a:t>Phase 1の注意点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4968000"/>
            <a:ext cx="486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1E293B"/>
                </a:solidFill>
                <a:latin typeface="游ゴシック"/>
              </a:rPr>
              <a:t>車両混雑・停止・到着時間は扱わない
「経路が存在するか」を確認する静的分析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0000" y="900000"/>
            <a:ext cx="5868000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12000" y="972000"/>
            <a:ext cx="5724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游ゴシック"/>
              </a:rPr>
              <a:t>処理フロー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0000" y="1404000"/>
            <a:ext cx="5400000" cy="64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92000" y="1475999"/>
            <a:ext cx="525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游ゴシック"/>
              </a:rPr>
              <a:t>浸水ポリゴン + 道路エッジ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000" y="21240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4748B"/>
                </a:solidFill>
                <a:latin typeface="游ゴシック"/>
              </a:rPr>
              <a:t>↓ 空間結合（GIS）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0000" y="2340000"/>
            <a:ext cx="5400000" cy="64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92000" y="2412000"/>
            <a:ext cx="525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游ゴシック"/>
              </a:rPr>
              <a:t>道路閉鎖タイムライン
（t0〜t7）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000" y="30600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4748B"/>
                </a:solidFill>
                <a:latin typeface="游ゴシック"/>
              </a:rPr>
              <a:t>↓ Dijkstra 経路探索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0000" y="3276000"/>
            <a:ext cx="5400000" cy="64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92000" y="3347999"/>
            <a:ext cx="525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游ゴシック"/>
              </a:rPr>
              <a:t>経路あり / 経路なし
を判定 → HTML生成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" y="90000"/>
            <a:ext cx="1152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游ゴシック"/>
              </a:rPr>
              <a:t>Phase 2：SUMO交通流シミュレーション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503999"/>
            <a:ext cx="115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FDBFE"/>
                </a:solidFill>
                <a:latin typeface="游ゴシック"/>
              </a:rPr>
              <a:t>SUMO 1.26.0 + TraCI による動的道路閉鎖シミュレーション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60000"/>
            <a:ext cx="12193200" cy="54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00000" y="6480000"/>
            <a:ext cx="10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0000" y="900000"/>
            <a:ext cx="216000" cy="864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8000" y="900000"/>
            <a:ext cx="11113200" cy="86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20000" y="936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40AF"/>
                </a:solidFill>
                <a:latin typeface="游ゴシック"/>
              </a:rPr>
              <a:t>① ネットワーク変換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1260000"/>
            <a:ext cx="109692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游ゴシック"/>
              </a:rPr>
              <a:t>GraphML → OSM XML → joso.net.xml
（通常edge 49,356件）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908000"/>
            <a:ext cx="216000" cy="864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8000" y="1908000"/>
            <a:ext cx="11113200" cy="86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20000" y="1943999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40AF"/>
                </a:solidFill>
                <a:latin typeface="游ゴシック"/>
              </a:rPr>
              <a:t>② edge ID 対応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" y="2268000"/>
            <a:ext cx="109692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游ゴシック"/>
              </a:rPr>
              <a:t>Phase1 閉鎖edge 764件 → SUMO edge（全matched）
SUMO segment 計3,158件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2916000"/>
            <a:ext cx="216000" cy="864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8000" y="2916000"/>
            <a:ext cx="11113200" cy="86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20000" y="2951999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40AF"/>
                </a:solidFill>
                <a:latin typeface="游ゴシック"/>
              </a:rPr>
              <a:t>③ 出発地・避難所スナップ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3276000"/>
            <a:ext cx="109692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游ゴシック"/>
              </a:rPr>
              <a:t>250mメッシュ重心 → 最寄りSUMO edge
避難所 → 安全避難所19件をスナップ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0000" y="3923999"/>
            <a:ext cx="216000" cy="864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8000" y="3923999"/>
            <a:ext cx="11113200" cy="86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0000" y="3959999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40AF"/>
                </a:solidFill>
                <a:latin typeface="游ゴシック"/>
              </a:rPr>
              <a:t>④ TraCI動的道路閉鎖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000" y="4283999"/>
            <a:ext cx="109692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游ゴシック"/>
              </a:rPr>
              <a:t>SUMO 0秒＝出発開始
t0〜t7を789〜21,600秒に対応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4932000"/>
            <a:ext cx="216000" cy="864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48000" y="4932000"/>
            <a:ext cx="11113200" cy="86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20000" y="496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40AF"/>
                </a:solidFill>
                <a:latin typeface="游ゴシック"/>
              </a:rPr>
              <a:t>⑤ 再経路探索・記録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0000" y="5292000"/>
            <a:ext cx="109692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游ゴシック"/>
              </a:rPr>
              <a:t>閉鎖後にSUMOが代替経路を探索
到着/未到着/混雑を60秒ごとに記録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" y="90000"/>
            <a:ext cx="1152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游ゴシック"/>
              </a:rPr>
              <a:t>Phase 2 前提条件：時間軸・出発地・台数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503999"/>
            <a:ext cx="11520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 err="1">
                <a:solidFill>
                  <a:srgbClr val="BFDBFE"/>
                </a:solidFill>
                <a:latin typeface="游ゴシック"/>
              </a:rPr>
              <a:t>結果の解釈</a:t>
            </a:r>
            <a:r>
              <a:rPr lang="ja-JP" altLang="en-US" sz="1300" b="0" dirty="0">
                <a:solidFill>
                  <a:srgbClr val="BFDBFE"/>
                </a:solidFill>
                <a:latin typeface="游ゴシック"/>
              </a:rPr>
              <a:t>と</a:t>
            </a:r>
            <a:r>
              <a:rPr sz="1300" b="0" dirty="0" err="1">
                <a:solidFill>
                  <a:srgbClr val="BFDBFE"/>
                </a:solidFill>
                <a:latin typeface="游ゴシック"/>
              </a:rPr>
              <a:t>設定</a:t>
            </a:r>
            <a:endParaRPr sz="1300" b="0" dirty="0">
              <a:solidFill>
                <a:srgbClr val="BFDBFE"/>
              </a:solidFill>
              <a:latin typeface="游ゴシック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60000"/>
            <a:ext cx="12193200" cy="54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00000" y="6480000"/>
            <a:ext cx="10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0000" y="900000"/>
          <a:ext cx="558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</a:rPr>
                        <a:t>項目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</a:rPr>
                        <a:t>設定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</a:rPr>
                        <a:t>解釈上の注意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latin typeface="游ゴシック"/>
                        </a:rPr>
                        <a:t>シミュレーション時間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latin typeface="游ゴシック"/>
                        </a:rPr>
                        <a:t>0〜21,600秒（6時間）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latin typeface="游ゴシック"/>
                        </a:rPr>
                        <a:t>実時間を6時間に線形圧縮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latin typeface="游ゴシック"/>
                        </a:rPr>
                        <a:t>SUMO 0秒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latin typeface="游ゴシック"/>
                        </a:rPr>
                        <a:t>車両の出発開始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latin typeface="游ゴシック"/>
                        </a:rPr>
                        <a:t>浸水時系列のt0ではない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latin typeface="游ゴシック"/>
                        </a:rPr>
                        <a:t>最初の閉鎖t0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latin typeface="游ゴシック"/>
                        </a:rPr>
                        <a:t>SUMO上 789秒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latin typeface="游ゴシック"/>
                        </a:rPr>
                        <a:t>small/10pctはt0前に全車到着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latin typeface="游ゴシック"/>
                        </a:rPr>
                        <a:t>最終時点t7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latin typeface="游ゴシック"/>
                        </a:rPr>
                        <a:t>SUMO上 21,600秒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latin typeface="游ゴシック"/>
                        </a:rPr>
                        <a:t>閉鎖後挙動はfull試行で確認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999" y="900000"/>
          <a:ext cx="5580000" cy="34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</a:rPr>
                        <a:t>項目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</a:rPr>
                        <a:t>設定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</a:rPr>
                        <a:t>根拠・作り方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游ゴシック"/>
                        </a:rPr>
                        <a:t>出発地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游ゴシック"/>
                        </a:rPr>
                        <a:t>40地点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游ゴシック"/>
                        </a:rPr>
                        <a:t>250m人口メッシュ代表点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游ゴシック"/>
                        </a:rPr>
                        <a:t>目的地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游ゴシック"/>
                        </a:rPr>
                        <a:t>安全避難所19件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游ゴシック"/>
                        </a:rPr>
                        <a:t>洪水対応避難所をSUMO edgeへスナップ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游ゴシック"/>
                        </a:rPr>
                        <a:t>small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游ゴシック"/>
                        </a:rPr>
                        <a:t>40台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游ゴシック"/>
                        </a:rPr>
                        <a:t>各メッシュ1台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游ゴシック"/>
                        </a:rPr>
                        <a:t>10pct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游ゴシック"/>
                        </a:rPr>
                        <a:t>120台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游ゴシック"/>
                        </a:rPr>
                        <a:t>fullを各メッシュごとに約1割へ縮小・切り上げ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游ゴシック"/>
                        </a:rPr>
                        <a:t>full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游ゴシック"/>
                        </a:rPr>
                        <a:t>1,001台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游ゴシック"/>
                        </a:rPr>
                        <a:t>人口÷2.3人/世帯をメッシュごとに切り上げ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360000" y="4680000"/>
            <a:ext cx="11473200" cy="1368000"/>
          </a:xfrm>
          <a:prstGeom prst="rect">
            <a:avLst/>
          </a:prstGeom>
          <a:solidFill>
            <a:srgbClr val="FEF3C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0000" y="4752000"/>
            <a:ext cx="1108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  <a:latin typeface="游ゴシック"/>
              </a:rPr>
              <a:t>可視化の注意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0" y="5076000"/>
            <a:ext cx="11088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 dirty="0" err="1">
                <a:solidFill>
                  <a:srgbClr val="1E293B"/>
                </a:solidFill>
                <a:latin typeface="游ゴシック"/>
              </a:rPr>
              <a:t>現在のHTMLアニメーションはsmall</a:t>
            </a:r>
            <a:r>
              <a:rPr sz="1350" b="0" dirty="0">
                <a:solidFill>
                  <a:srgbClr val="1E293B"/>
                </a:solidFill>
                <a:latin typeface="游ゴシック"/>
              </a:rPr>
              <a:t>/10pctの車両移動確認が中心であり、両試行はt0前に到着する。
</a:t>
            </a:r>
            <a:r>
              <a:rPr sz="1350" b="0" dirty="0" err="1">
                <a:solidFill>
                  <a:srgbClr val="1E293B"/>
                </a:solidFill>
                <a:latin typeface="游ゴシック"/>
              </a:rPr>
              <a:t>道路閉鎖後の交通挙動は、full試行の結果表・混雑指標・閉鎖時系列を併用して説明する</a:t>
            </a:r>
            <a:r>
              <a:rPr sz="1350" b="0" dirty="0">
                <a:solidFill>
                  <a:srgbClr val="1E293B"/>
                </a:solidFill>
                <a:latin typeface="游ゴシック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" y="90000"/>
            <a:ext cx="1152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游ゴシック"/>
              </a:rPr>
              <a:t>Phase 2 結果：常総市シナリオA（自家用車のみ）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12193200" cy="54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00000" y="6480000"/>
            <a:ext cx="10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0000" y="900000"/>
          <a:ext cx="11113199" cy="2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1931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750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游ゴシック"/>
                        </a:rPr>
                        <a:t>試行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游ゴシック"/>
                        </a:rPr>
                        <a:t>車両数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游ゴシック"/>
                        </a:rPr>
                        <a:t>到着台数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游ゴシック"/>
                        </a:rPr>
                        <a:t>未到着台数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游ゴシック"/>
                        </a:rPr>
                        <a:t>到着率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游ゴシック"/>
                        </a:rPr>
                        <a:t>位置づけ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500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游ゴシック"/>
                        </a:rPr>
                        <a:t>small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游ゴシック"/>
                        </a:rP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游ゴシック"/>
                        </a:rP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游ゴシック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游ゴシック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游ゴシック"/>
                        </a:rPr>
                        <a:t>動作確認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500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游ゴシック"/>
                        </a:rPr>
                        <a:t>10pct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游ゴシック"/>
                        </a:rPr>
                        <a:t>120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游ゴシック"/>
                        </a:rPr>
                        <a:t>120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游ゴシック"/>
                        </a:rPr>
                        <a:t>0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游ゴシック"/>
                        </a:rPr>
                        <a:t>100%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游ゴシック"/>
                        </a:rPr>
                        <a:t>縮小比較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500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游ゴシック"/>
                        </a:rPr>
                        <a:t>full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游ゴシック"/>
                        </a:rPr>
                        <a:t>1,001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游ゴシック"/>
                        </a:rPr>
                        <a:t>987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游ゴシック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游ゴシック"/>
                        </a:rPr>
                        <a:t>98.6%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游ゴシック"/>
                        </a:rPr>
                        <a:t>常総市主結果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0000" y="3780000"/>
            <a:ext cx="11113200" cy="900000"/>
          </a:xfrm>
          <a:prstGeom prst="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20000" y="3851999"/>
            <a:ext cx="104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  <a:latin typeface="游ゴシック"/>
              </a:rPr>
              <a:t>未到着14台について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4140000"/>
            <a:ext cx="1044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游ゴシック"/>
              </a:rPr>
              <a:t>閉鎖済みの出発edgeから発車できなかった車両として記録。
プログラムエラーではなく、今回の閉鎖条件下での「逃げ遅れ候補」として扱う。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0000" y="4860000"/>
            <a:ext cx="11113200" cy="13680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0000" y="4932000"/>
            <a:ext cx="104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40AF"/>
                </a:solidFill>
                <a:latin typeface="游ゴシック"/>
              </a:rPr>
              <a:t>全41市区町村（10pct試行）の結果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5256000"/>
            <a:ext cx="1044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E293B"/>
                </a:solidFill>
                <a:latin typeface="游ゴシック"/>
              </a:rPr>
              <a:t>● 全41市区町村でsmall・10pct完了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E293B"/>
                </a:solidFill>
                <a:latin typeface="游ゴシック"/>
              </a:rPr>
              <a:t>● 10pct試行：計23,054台、逃げ遅れ合計 0台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E293B"/>
                </a:solidFill>
                <a:latin typeface="游ゴシック"/>
              </a:rPr>
              <a:t>● full試行：代表6市区町村で実行（全員到着）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" y="90000"/>
            <a:ext cx="1152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游ゴシック"/>
              </a:rPr>
              <a:t>Phase 2 結果：主要避難路別の混雑（full試行）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12193200" cy="54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00000" y="6480000"/>
            <a:ext cx="10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0000" y="900000"/>
          <a:ext cx="11113200" cy="2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5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000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游ゴシック"/>
                        </a:rPr>
                        <a:t>路線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游ゴシック"/>
                        </a:rPr>
                        <a:t>最大走行台数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游ゴシック"/>
                        </a:rPr>
                        <a:t>最大停止台数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游ゴシック"/>
                        </a:rPr>
                        <a:t>最低平均速度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游ゴシック"/>
                        </a:rPr>
                        <a:t>約 km/h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游ゴシック"/>
                        </a:rPr>
                        <a:t>県道357号</a:t>
                      </a:r>
                    </a:p>
                    <a:p>
                      <a:r>
                        <a:t>（谷和原筑西線）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游ゴシック"/>
                        </a:rPr>
                        <a:t>137台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游ゴシック"/>
                        </a:rPr>
                        <a:t>105台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游ゴシック"/>
                        </a:rPr>
                        <a:t>1.64 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游ゴシック"/>
                        </a:rPr>
                        <a:t>約 5.9 km/h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游ゴシック"/>
                        </a:rPr>
                        <a:t>国道294号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游ゴシック"/>
                        </a:rPr>
                        <a:t>61台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游ゴシック"/>
                        </a:rPr>
                        <a:t>7台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游ゴシック"/>
                        </a:rPr>
                        <a:t>4.41 m/s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游ゴシック"/>
                        </a:rPr>
                        <a:t>約 15.9 km/h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0000" y="3780000"/>
            <a:ext cx="11113200" cy="720000"/>
          </a:xfrm>
          <a:prstGeom prst="rect">
            <a:avLst/>
          </a:prstGeom>
          <a:solidFill>
            <a:srgbClr val="FEE2E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20000" y="3851999"/>
            <a:ext cx="1044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dirty="0">
                <a:solidFill>
                  <a:srgbClr val="7F1D1D"/>
                </a:solidFill>
                <a:latin typeface="游ゴシック"/>
              </a:rPr>
              <a:t>県道357号：停止台数105台、最低速度1.64 m/s（約6 km/h）
  → </a:t>
            </a:r>
            <a:r>
              <a:rPr b="0" dirty="0" err="1">
                <a:solidFill>
                  <a:srgbClr val="7F1D1D"/>
                </a:solidFill>
                <a:latin typeface="游ゴシック"/>
              </a:rPr>
              <a:t>自家用車避難集中時に深刻な渋滞が発生</a:t>
            </a:r>
            <a:endParaRPr b="0" dirty="0">
              <a:solidFill>
                <a:srgbClr val="7F1D1D"/>
              </a:solidFill>
              <a:latin typeface="游ゴシック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40000" y="4680000"/>
            <a:ext cx="5220000" cy="1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20000" y="4752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游ゴシック"/>
              </a:rPr>
              <a:t>Phase 2で分かること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000" y="5040000"/>
            <a:ext cx="486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dirty="0">
                <a:solidFill>
                  <a:srgbClr val="1E293B"/>
                </a:solidFill>
                <a:latin typeface="游ゴシック"/>
              </a:rPr>
              <a:t>・ </a:t>
            </a:r>
            <a:r>
              <a:rPr sz="1300" dirty="0" err="1">
                <a:solidFill>
                  <a:srgbClr val="1E293B"/>
                </a:solidFill>
                <a:latin typeface="游ゴシック"/>
              </a:rPr>
              <a:t>到着できたかの判定（到着</a:t>
            </a:r>
            <a:r>
              <a:rPr sz="1300" dirty="0">
                <a:solidFill>
                  <a:srgbClr val="1E293B"/>
                </a:solidFill>
                <a:latin typeface="游ゴシック"/>
              </a:rPr>
              <a:t>/</a:t>
            </a:r>
            <a:r>
              <a:rPr sz="1300" dirty="0" err="1">
                <a:solidFill>
                  <a:srgbClr val="1E293B"/>
                </a:solidFill>
                <a:latin typeface="游ゴシック"/>
              </a:rPr>
              <a:t>未到着</a:t>
            </a:r>
            <a:r>
              <a:rPr sz="1300" dirty="0">
                <a:solidFill>
                  <a:srgbClr val="1E293B"/>
                </a:solidFill>
                <a:latin typeface="游ゴシック"/>
              </a:rPr>
              <a:t>）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dirty="0">
                <a:solidFill>
                  <a:srgbClr val="1E293B"/>
                </a:solidFill>
                <a:latin typeface="游ゴシック"/>
              </a:rPr>
              <a:t>・ </a:t>
            </a:r>
            <a:r>
              <a:rPr sz="1300" dirty="0" err="1">
                <a:solidFill>
                  <a:srgbClr val="1E293B"/>
                </a:solidFill>
                <a:latin typeface="游ゴシック"/>
              </a:rPr>
              <a:t>どの道路に負荷が集中するか</a:t>
            </a:r>
            <a:endParaRPr sz="1300" dirty="0">
              <a:solidFill>
                <a:srgbClr val="1E293B"/>
              </a:solidFill>
              <a:latin typeface="游ゴシック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dirty="0">
                <a:solidFill>
                  <a:srgbClr val="1E293B"/>
                </a:solidFill>
                <a:latin typeface="游ゴシック"/>
              </a:rPr>
              <a:t>・ </a:t>
            </a:r>
            <a:r>
              <a:rPr sz="1300" dirty="0" err="1">
                <a:solidFill>
                  <a:srgbClr val="1E293B"/>
                </a:solidFill>
                <a:latin typeface="游ゴシック"/>
              </a:rPr>
              <a:t>速度低下・停止が発生する区間</a:t>
            </a:r>
            <a:endParaRPr sz="1300" dirty="0">
              <a:solidFill>
                <a:srgbClr val="1E293B"/>
              </a:solidFill>
              <a:latin typeface="游ゴシック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300000" y="4680000"/>
            <a:ext cx="5353200" cy="1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80000" y="4752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游ゴシック"/>
              </a:rPr>
              <a:t>Phase 2でわからないこと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0000" y="5040000"/>
            <a:ext cx="486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>
                <a:solidFill>
                  <a:srgbClr val="1E293B"/>
                </a:solidFill>
                <a:latin typeface="游ゴシック"/>
              </a:rPr>
              <a:t>・ 車なし世帯・高齢者の避難可否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>
                <a:solidFill>
                  <a:srgbClr val="1E293B"/>
                </a:solidFill>
                <a:latin typeface="游ゴシック"/>
              </a:rPr>
              <a:t>・ バスが渋滞を緩和するか（Phase 3で比較）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>
                <a:solidFill>
                  <a:srgbClr val="1E293B"/>
                </a:solidFill>
                <a:latin typeface="游ゴシック"/>
              </a:rPr>
              <a:t>・ 出発時刻ばらつきの影響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" y="90000"/>
            <a:ext cx="1152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游ゴシック"/>
              </a:rPr>
              <a:t>Phase 1 と Phase 2 の違い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12193200" cy="54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00000" y="6480000"/>
            <a:ext cx="10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0000" y="900000"/>
          <a:ext cx="11473200" cy="50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1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400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</a:rPr>
                        <a:t>観点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</a:rPr>
                        <a:t>Phase 1（静的）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</a:rPr>
                        <a:t>Phase 2（動的）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分析手法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道路閉鎖後の最短経路の有無を判定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車両を実際に走らせて結果を観測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渋滞の考慮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なし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あり（速度低下・停止が記録される）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指標の単位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「経路なし」メッシュ数・人口数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「実際に未到着」の車両台数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常総市の結果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到達不可メッシュ17・人口952名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full試行で14台が発車できず逃げ遅れ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わかること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「そもそも道がない」場所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「道はあるが渋滞・閉鎖で間に合わない」状況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0000" y="6075000"/>
            <a:ext cx="11473200" cy="43200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0000" y="6111000"/>
            <a:ext cx="11160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游ゴシック"/>
              </a:rPr>
              <a:t>注意：Phase 1の到達不可人数（952名）とPhase 2の未到着車両数（14台）は単位が異なる → 直接比較しない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" y="90000"/>
            <a:ext cx="1152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游ゴシック"/>
              </a:rPr>
              <a:t>今後の予定（Phase 3）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503999"/>
            <a:ext cx="115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FDBFE"/>
                </a:solidFill>
                <a:latin typeface="游ゴシック"/>
              </a:rPr>
              <a:t>デマンド交通バスを追加し、自家用車のみのシナリオAと比較する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60000"/>
            <a:ext cx="12193200" cy="54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00000" y="6480000"/>
            <a:ext cx="10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0000" y="900000"/>
          <a:ext cx="11473200" cy="3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1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80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</a:rPr>
                        <a:t>比較軸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</a:rPr>
                        <a:t>Phase 2（シナリオA）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</a:rPr>
                        <a:t>Phase 3（シナリオB）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800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道路上の車両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自家用車のみ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自家用車 ＋ バス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800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対象者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車保有世帯のみ追跡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車なし・高齢者もバスで追跡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800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主要路渋滞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県道357号等で深刻な渋滞を確認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バス導入による緩和効果を測定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800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結論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比較基準（ベースライン）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游ゴシック"/>
                        </a:rPr>
                        <a:t>RQへの定量的な回答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0000" y="4320000"/>
            <a:ext cx="114732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40AF"/>
                </a:solidFill>
                <a:latin typeface="游ゴシック"/>
              </a:rPr>
              <a:t>Phase 3 実装ステップ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4680000"/>
            <a:ext cx="2700000" cy="1800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4752000"/>
            <a:ext cx="255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游ゴシック"/>
              </a:rPr>
              <a:t>① バス設定仕様固定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5034084"/>
            <a:ext cx="2556000" cy="1011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sz="1600" b="0" dirty="0" err="1">
                <a:solidFill>
                  <a:srgbClr val="BFDBFE"/>
                </a:solidFill>
                <a:latin typeface="游ゴシック"/>
              </a:rPr>
              <a:t>台数・定員・運行方式</a:t>
            </a:r>
            <a:r>
              <a:rPr sz="1600" b="0" dirty="0">
                <a:solidFill>
                  <a:srgbClr val="BFDBFE"/>
                </a:solidFill>
                <a:latin typeface="游ゴシック"/>
              </a:rPr>
              <a:t>
</a:t>
            </a:r>
            <a:r>
              <a:rPr sz="1600" b="0" dirty="0" err="1">
                <a:solidFill>
                  <a:srgbClr val="BFDBFE"/>
                </a:solidFill>
                <a:latin typeface="游ゴシック"/>
              </a:rPr>
              <a:t>利用者割り当てルール</a:t>
            </a:r>
            <a:endParaRPr sz="1600" b="0" dirty="0">
              <a:solidFill>
                <a:srgbClr val="BFDBFE"/>
              </a:solidFill>
              <a:latin typeface="游ゴシック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024001" y="5297987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4748B"/>
                </a:solidFill>
                <a:latin typeface="游ゴシック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76000" y="4680000"/>
            <a:ext cx="2700000" cy="1800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47999" y="4752000"/>
            <a:ext cx="255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游ゴシック"/>
              </a:rPr>
              <a:t>② シナリオB実装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7999" y="5034084"/>
            <a:ext cx="2556000" cy="1011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sz="1600" b="0">
                <a:solidFill>
                  <a:srgbClr val="BFDBFE"/>
                </a:solidFill>
                <a:latin typeface="游ゴシック"/>
              </a:rPr>
              <a:t>常総市 small
SUMO/TraCI バス投入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0001" y="5297987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4748B"/>
                </a:solidFill>
                <a:latin typeface="游ゴシック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2000" y="4680000"/>
            <a:ext cx="2700000" cy="1800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63999" y="4752000"/>
            <a:ext cx="255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游ゴシック"/>
              </a:rPr>
              <a:t>③ A/B 比較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999" y="5034084"/>
            <a:ext cx="2556000" cy="1011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sz="1600" b="0">
                <a:solidFill>
                  <a:srgbClr val="BFDBFE"/>
                </a:solidFill>
                <a:latin typeface="游ゴシック"/>
              </a:rPr>
              <a:t>到着率・混雑・
バス輸送人数を算出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56000" y="5297987"/>
            <a:ext cx="25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4748B"/>
                </a:solidFill>
                <a:latin typeface="游ゴシック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07999" y="4680000"/>
            <a:ext cx="2700000" cy="1800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79999" y="4752000"/>
            <a:ext cx="255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游ゴシック"/>
              </a:rPr>
              <a:t>④ 卒論執筆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9999" y="5034084"/>
            <a:ext cx="2556000" cy="1011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sz="1600" b="0">
                <a:solidFill>
                  <a:srgbClr val="BFDBFE"/>
                </a:solidFill>
                <a:latin typeface="游ゴシック"/>
              </a:rPr>
              <a:t>Phase 2/3 本文
第3〜5章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945</Words>
  <Application>Microsoft Office PowerPoint</Application>
  <PresentationFormat>ユーザー設定</PresentationFormat>
  <Paragraphs>254</Paragraphs>
  <Slides>13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7" baseType="lpstr">
      <vt:lpstr>游ゴシック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玲次 古賀</cp:lastModifiedBy>
  <cp:revision>1</cp:revision>
  <dcterms:created xsi:type="dcterms:W3CDTF">2013-01-27T09:14:16Z</dcterms:created>
  <dcterms:modified xsi:type="dcterms:W3CDTF">2026-05-22T03:56:00Z</dcterms:modified>
  <cp:category/>
</cp:coreProperties>
</file>