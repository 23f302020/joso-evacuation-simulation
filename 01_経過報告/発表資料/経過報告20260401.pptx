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2854C6-5C07-4ACD-9C41-35EFA785A60E}" v="55" dt="2026-04-15T08:11:31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-79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古賀 玲次" userId="d2163e72-4ab4-4222-a3af-dcf152636f21" providerId="ADAL" clId="{4CED5798-B995-4604-96BA-7E646074EB82}"/>
    <pc:docChg chg="undo custSel delSld modSld">
      <pc:chgData name="古賀 玲次" userId="d2163e72-4ab4-4222-a3af-dcf152636f21" providerId="ADAL" clId="{4CED5798-B995-4604-96BA-7E646074EB82}" dt="2026-04-15T08:11:30.982" v="460" actId="20577"/>
      <pc:docMkLst>
        <pc:docMk/>
      </pc:docMkLst>
      <pc:sldChg chg="delSp mod">
        <pc:chgData name="古賀 玲次" userId="d2163e72-4ab4-4222-a3af-dcf152636f21" providerId="ADAL" clId="{4CED5798-B995-4604-96BA-7E646074EB82}" dt="2026-04-08T09:22:42.328" v="0" actId="478"/>
        <pc:sldMkLst>
          <pc:docMk/>
          <pc:sldMk cId="0" sldId="256"/>
        </pc:sldMkLst>
      </pc:sldChg>
      <pc:sldChg chg="modSp mod">
        <pc:chgData name="古賀 玲次" userId="d2163e72-4ab4-4222-a3af-dcf152636f21" providerId="ADAL" clId="{4CED5798-B995-4604-96BA-7E646074EB82}" dt="2026-04-08T09:22:55.398" v="3" actId="20577"/>
        <pc:sldMkLst>
          <pc:docMk/>
          <pc:sldMk cId="0" sldId="257"/>
        </pc:sldMkLst>
        <pc:spChg chg="mod">
          <ac:chgData name="古賀 玲次" userId="d2163e72-4ab4-4222-a3af-dcf152636f21" providerId="ADAL" clId="{4CED5798-B995-4604-96BA-7E646074EB82}" dt="2026-04-08T09:22:55.398" v="3" actId="20577"/>
          <ac:spMkLst>
            <pc:docMk/>
            <pc:sldMk cId="0" sldId="257"/>
            <ac:spMk id="4" creationId="{00000000-0000-0000-0000-000000000000}"/>
          </ac:spMkLst>
        </pc:spChg>
      </pc:sldChg>
      <pc:sldChg chg="modNotesTx">
        <pc:chgData name="古賀 玲次" userId="d2163e72-4ab4-4222-a3af-dcf152636f21" providerId="ADAL" clId="{4CED5798-B995-4604-96BA-7E646074EB82}" dt="2026-04-15T08:11:30.982" v="460" actId="20577"/>
        <pc:sldMkLst>
          <pc:docMk/>
          <pc:sldMk cId="0" sldId="261"/>
        </pc:sldMkLst>
      </pc:sldChg>
      <pc:sldChg chg="modNotesTx">
        <pc:chgData name="古賀 玲次" userId="d2163e72-4ab4-4222-a3af-dcf152636f21" providerId="ADAL" clId="{4CED5798-B995-4604-96BA-7E646074EB82}" dt="2026-04-15T07:52:31.508" v="63" actId="20577"/>
        <pc:sldMkLst>
          <pc:docMk/>
          <pc:sldMk cId="0" sldId="264"/>
        </pc:sldMkLst>
      </pc:sldChg>
      <pc:sldChg chg="delSp modSp mod">
        <pc:chgData name="古賀 玲次" userId="d2163e72-4ab4-4222-a3af-dcf152636f21" providerId="ADAL" clId="{4CED5798-B995-4604-96BA-7E646074EB82}" dt="2026-04-08T09:30:30.381" v="24" actId="20577"/>
        <pc:sldMkLst>
          <pc:docMk/>
          <pc:sldMk cId="0" sldId="272"/>
        </pc:sldMkLst>
        <pc:spChg chg="mod">
          <ac:chgData name="古賀 玲次" userId="d2163e72-4ab4-4222-a3af-dcf152636f21" providerId="ADAL" clId="{4CED5798-B995-4604-96BA-7E646074EB82}" dt="2026-04-08T09:29:24.132" v="9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30.381" v="24" actId="20577"/>
          <ac:spMkLst>
            <pc:docMk/>
            <pc:sldMk cId="0" sldId="272"/>
            <ac:spMk id="4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17.936" v="16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17.936" v="16" actId="1076"/>
          <ac:spMkLst>
            <pc:docMk/>
            <pc:sldMk cId="0" sldId="272"/>
            <ac:spMk id="6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17.936" v="16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17.936" v="16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17.936" v="16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17.936" v="16" actId="107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17.936" v="16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17.936" v="16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17.936" v="16" actId="107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古賀 玲次" userId="d2163e72-4ab4-4222-a3af-dcf152636f21" providerId="ADAL" clId="{4CED5798-B995-4604-96BA-7E646074EB82}" dt="2026-04-08T09:30:17.936" v="16" actId="1076"/>
          <ac:spMkLst>
            <pc:docMk/>
            <pc:sldMk cId="0" sldId="272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585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平均乗車率をどう上げていくか</a:t>
            </a:r>
            <a:endParaRPr lang="en-US" altLang="ja-JP" dirty="0"/>
          </a:p>
          <a:p>
            <a:r>
              <a:rPr lang="ja-JP" altLang="en-US" dirty="0"/>
              <a:t>コストの削減</a:t>
            </a:r>
            <a:endParaRPr lang="en-US" altLang="ja-JP" dirty="0"/>
          </a:p>
          <a:p>
            <a:r>
              <a:rPr lang="ja-JP" altLang="en-US" dirty="0"/>
              <a:t>ルートを絞る（ルートの確率</a:t>
            </a:r>
            <a:endParaRPr lang="en-US" altLang="ja-JP" dirty="0"/>
          </a:p>
          <a:p>
            <a:r>
              <a:rPr lang="ja-JP" altLang="en-US" dirty="0"/>
              <a:t>災害とのは現実的か</a:t>
            </a:r>
            <a:endParaRPr lang="en-US" altLang="ja-JP" dirty="0"/>
          </a:p>
          <a:p>
            <a:r>
              <a:rPr lang="ja-JP" altLang="en-US" dirty="0"/>
              <a:t>災害で逃げられない人数</a:t>
            </a:r>
            <a:endParaRPr lang="en-US" altLang="ja-JP" dirty="0"/>
          </a:p>
          <a:p>
            <a:r>
              <a:rPr lang="en-US" altLang="ja-JP" dirty="0"/>
              <a:t>1</a:t>
            </a:r>
            <a:r>
              <a:rPr lang="ja-JP" altLang="en-US" dirty="0"/>
              <a:t>エリアでの高齢化率</a:t>
            </a:r>
            <a:endParaRPr lang="en-US" altLang="ja-JP" dirty="0"/>
          </a:p>
          <a:p>
            <a:r>
              <a:rPr lang="ja-JP" altLang="en-US" dirty="0"/>
              <a:t>鬼怒川の氾濫時の逃げ遅れ　データ</a:t>
            </a:r>
            <a:endParaRPr lang="en-US" altLang="ja-JP" dirty="0"/>
          </a:p>
          <a:p>
            <a:r>
              <a:rPr lang="ja-JP" altLang="en-US" dirty="0"/>
              <a:t>氾濫→車で逃げる→渋滞</a:t>
            </a:r>
            <a:endParaRPr lang="en-US" altLang="ja-JP" dirty="0"/>
          </a:p>
          <a:p>
            <a:r>
              <a:rPr lang="ja-JP" altLang="en-US" dirty="0"/>
              <a:t>　　　　→バスがあると→渋滞緩和</a:t>
            </a:r>
            <a:endParaRPr lang="en-US" altLang="ja-JP" dirty="0"/>
          </a:p>
          <a:p>
            <a:r>
              <a:rPr lang="ja-JP" altLang="en-US" dirty="0"/>
              <a:t>違いのシミュレーション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667512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667512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8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経過報告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2026年4月1日時点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C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デマンド交通 × 災害時避難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DC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シミュレーションシステムの構築に向けて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活動概要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502920" cy="16002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デマンド交通の調査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定義・導入背景・法制度・課題・統計を整理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502920" cy="16002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617720" y="9144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12080" y="1097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新規システム構想の検討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6002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デマンド交通 × 災害情報を組み合わせたシステムのアイデア整理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74320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228600" y="2743200"/>
            <a:ext cx="502920" cy="16002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28600" y="27432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地域別人口データの調査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4290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車両台数・車体サイズ自動判別に必要な人口分布データの入手可能性を確認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74320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617720" y="2743200"/>
            <a:ext cx="502920" cy="16002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617720" y="274320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21208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OSSシミュレーションツールの調査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34290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実データ取得前の実装環境として活用できるOSSツールの選定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7E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理解する　→　② 構想する　→　③ データを確保する　→　④ ツールを選定する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320040" y="2194560"/>
            <a:ext cx="292608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8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デマンド交通の調査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デマンド交通（DRT）とは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8778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109728" cy="1005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DRT（Demand Responsive Transport）：利用者の事前予約に応じて経路・スケジュールを柔軟に変更して運行する地域公共交通システム。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「路線バスとタクシーの中間」「予約制の乗合タクシー」とも呼ばれる。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96596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28600" y="2057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860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事前予約制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291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電話・スマートフォンアプリ等で予約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96596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377440" y="2057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🚌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乗合方式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291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複数利用者が同乗する相乗りスタイル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196596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26280" y="2057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2628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柔軟な運行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3291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ダイヤ・経路が固定されない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96596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675120" y="2057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🏘️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7512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補完的交通手段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3291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交通不便地域・過疎地域をカバー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導入背景・歴史的経緯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7E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導入背景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少子高齢化・人口減少 → 路線バス維持困難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マイカー依存の拡大 → 農村部のバス採算悪化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高齢ドライバー問題 → 免許返納後の移動手段確保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389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70916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7E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歴史的経緯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548640" cy="27432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709160" y="1298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1972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49240" y="12984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大阪府能勢町で日本初のデマンドバス導入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664208"/>
            <a:ext cx="548640" cy="27432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70916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9240" y="16642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道路運送法改正 → 「区域運行」が法的整備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029968"/>
            <a:ext cx="548640" cy="27432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709160" y="2029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2013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49240" y="20299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導入自治体数：311市町村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395728"/>
            <a:ext cx="548640" cy="27432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709160" y="2395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2395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導入自治体数：566市町村（〜約700に拡大）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29718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主な運行形態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" y="33375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228600" y="3337560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2286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セミデマンド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7947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基本ルートあり、予約に応じて迂回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33375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3108960" y="3337560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10896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フレックスルート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46120" y="37947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時刻は固定、経路のみフレキシブル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89320" y="33375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5989320" y="3337560"/>
            <a:ext cx="27432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98932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フルデマンド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26480" y="37947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時刻も経路も固定せず完全予約対応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現状の課題 と 最新動向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754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4754880" cy="384048"/>
          </a:xfrm>
          <a:prstGeom prst="rect">
            <a:avLst/>
          </a:prstGeom>
          <a:solidFill>
            <a:srgbClr val="E85D3A"/>
          </a:solidFill>
          <a:ln w="12700">
            <a:solidFill>
              <a:srgbClr val="E85D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82880" y="822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現状の課題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1463040" cy="384048"/>
          </a:xfrm>
          <a:prstGeom prst="rect">
            <a:avLst/>
          </a:prstGeom>
          <a:solidFill>
            <a:srgbClr val="E0EDF2"/>
          </a:solidFill>
          <a:ln w="12700">
            <a:solidFill>
              <a:srgbClr val="C0D8E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7E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運転手不足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3441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2030年に約3.6万人不足（28%）と推計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1463040" cy="384048"/>
          </a:xfrm>
          <a:prstGeom prst="rect">
            <a:avLst/>
          </a:prstGeom>
          <a:solidFill>
            <a:srgbClr val="E0EDF2"/>
          </a:solidFill>
          <a:ln w="12700">
            <a:solidFill>
              <a:srgbClr val="C0D8E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4320" y="19385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7E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高コスト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95681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デマンド：7,651円 vs バス：1,376円（福井小浜市）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1463040" cy="384048"/>
          </a:xfrm>
          <a:prstGeom prst="rect">
            <a:avLst/>
          </a:prstGeom>
          <a:solidFill>
            <a:srgbClr val="E0EDF2"/>
          </a:solidFill>
          <a:ln w="12700">
            <a:solidFill>
              <a:srgbClr val="C0D8E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74320" y="25511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7E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乗合率の低さ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56946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平均乗車人数1.1〜1.2人/台（実質タクシー化）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63824"/>
            <a:ext cx="1463040" cy="384048"/>
          </a:xfrm>
          <a:prstGeom prst="rect">
            <a:avLst/>
          </a:prstGeom>
          <a:solidFill>
            <a:srgbClr val="E0EDF2"/>
          </a:solidFill>
          <a:ln w="12700">
            <a:solidFill>
              <a:srgbClr val="C0D8E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274320" y="31638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7E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利用促進の難しさ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1821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高齢者の予約操作への対応・認知度不足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776472"/>
            <a:ext cx="1463040" cy="384048"/>
          </a:xfrm>
          <a:prstGeom prst="rect">
            <a:avLst/>
          </a:prstGeom>
          <a:solidFill>
            <a:srgbClr val="E0EDF2"/>
          </a:solidFill>
          <a:ln w="12700">
            <a:solidFill>
              <a:srgbClr val="C0D8E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74320" y="3776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7E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地域調整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7947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既存タクシー・バス事業者との利害調整が必要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822960"/>
            <a:ext cx="3840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120640" y="822960"/>
            <a:ext cx="3840480" cy="384048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12064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最新動向（AI・ICT活用）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12984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孝行デマンドバス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13167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コガソフトウェア：120エリア以上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18013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SAVS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18196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未来シェア：北海道中心、2024年12月新版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23042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AI運行バス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23225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NTT東日本：MaaS基盤との統合を重視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3063240"/>
            <a:ext cx="3840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52578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E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統計ハイライト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3429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566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5257800" y="4206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市町村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（2020年）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3429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5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3.6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E85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万人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7040880" y="4206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運転手不足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（2030年推計）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320040" y="2194560"/>
            <a:ext cx="292608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8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新規システム構想「デマンド交通 × 災害情報」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新規システム構想 ― コアとなる問い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868680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09728" cy="12801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「災害時に、デマンド交通しか移動手段がない人は、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どこにいて、どれだけ逃げられないか？」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" y="22860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研究としての新規性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69748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228600" y="2697480"/>
            <a:ext cx="2788920" cy="384048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28600" y="26974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先行研究との差別化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5468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既存の災害×交通研究は幹線交通の被災影響が中心。デマンド交通に着目した分析はほぼ皆無。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269748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154680" y="2697480"/>
            <a:ext cx="2788920" cy="384048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154680" y="26974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先行テーマとの接続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15468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テーマ②（天候×路線脆弱性）をデマンド交通まで拡張した発展型として位置づけ可能。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697480"/>
            <a:ext cx="2788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080760" y="2697480"/>
            <a:ext cx="2788920" cy="384048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080760" y="26974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実用的価値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15468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自治体の避難計画・デマンド交通のBCP策定に直接貢献できる。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システム構成イメージ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E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82880" y="1143000"/>
            <a:ext cx="2743200" cy="73152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気象・災害情報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気象庁・ハザードマップ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11430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063240" y="1143000"/>
            <a:ext cx="2743200" cy="73152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200400" y="1252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デマンド交通データ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6276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ODPTチャレンジ配信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1430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943600" y="1143000"/>
            <a:ext cx="2743200" cy="73152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080760" y="1252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人口・地形データ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16276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e-Stat・国土数値情報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103120"/>
            <a:ext cx="0" cy="457200"/>
          </a:xfrm>
          <a:prstGeom prst="line">
            <a:avLst/>
          </a:prstGeom>
          <a:noFill/>
          <a:ln w="254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82296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処理エンジン：交通弱者リスクマップ生成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03580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通常時の移動可能範囲の把握　｜　災害フェーズ別の運行停止予測　｜　代替手段ゼロ地区の特定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3703320"/>
            <a:ext cx="0" cy="365760"/>
          </a:xfrm>
          <a:prstGeom prst="line">
            <a:avLst/>
          </a:prstGeom>
          <a:noFill/>
          <a:ln w="254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371600" y="4114800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371600" y="4114800"/>
            <a:ext cx="640080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508760" y="422452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OUTPUT：「移動困難リスクスコア」の可視化・出力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開発方針の3案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91440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960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脆弱性スコアリングモデル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デマンド交通依存度×災害リスク×代替手段の有無をスコア化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005840"/>
            <a:ext cx="1280160" cy="32004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492240" y="1005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研究寄り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4356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卒論論文にまとめやすい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148840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28600" y="2148840"/>
            <a:ext cx="914400" cy="11430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28600" y="214884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2240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避難支援シミュレーター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697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災害警戒レベルに応じてデマンド交通のルート・台数を動的再割り当て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286000"/>
            <a:ext cx="1280160" cy="320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49224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実装寄り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7157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コンテスト出品にも適する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429000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28600" y="3429000"/>
            <a:ext cx="914400" cy="1143000"/>
          </a:xfrm>
          <a:prstGeom prst="rect">
            <a:avLst/>
          </a:prstGeom>
          <a:solidFill>
            <a:srgbClr val="5A7080"/>
          </a:solidFill>
          <a:ln w="12700">
            <a:solidFill>
              <a:srgbClr val="5A70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28600" y="3429000"/>
            <a:ext cx="914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案C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リアルタイムダッシュボード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977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気象・道路情報とデマンド交通の稼働状況を重ねて表示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3566160"/>
            <a:ext cx="1280160" cy="320040"/>
          </a:xfrm>
          <a:prstGeom prst="rect">
            <a:avLst/>
          </a:prstGeom>
          <a:solidFill>
            <a:srgbClr val="7A9AAA"/>
          </a:solidFill>
          <a:ln w="12700">
            <a:solidFill>
              <a:srgbClr val="7A9A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92240" y="3566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実用寄り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9959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0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実装は比較的軽量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D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 懸念点：ODPTのデマンド交通データの粒度・範囲の確認が最優先事項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320040" y="2194560"/>
            <a:ext cx="292608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8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OSSシミュレーションツールの調査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OSSシミュレーションツール 調査結果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4206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MATSim  ★★★　交通・避難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075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ETH Zurich / TU Berlin 開発。DRT公式モジュール実装済み。GTFSを直接読み込み可能。農村部避難への適用論文あり（2025年）。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86868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4206240" cy="384048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617720" y="868680"/>
            <a:ext cx="4206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SUMO  ★☆☆　交通ミクロ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3075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DLR開発。歩行者・車両・バスの複合交通に対応。MATSimとネットワーク変換ツールあり。津波避難シミュレーションでの採用実績多数。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28600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206240" cy="384048"/>
          </a:xfrm>
          <a:prstGeom prst="rect">
            <a:avLst/>
          </a:prstGeom>
          <a:solidFill>
            <a:srgbClr val="6B8E9F"/>
          </a:solidFill>
          <a:ln w="12700">
            <a:solidFill>
              <a:srgbClr val="6B8E9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28600" y="2286000"/>
            <a:ext cx="4206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GAMA / SiFlo  ★★☆　エージェント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7249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GISデータを直接読み込みエージェントを動かせる。SiFlo：OSM＋住民避難モデルを統合した洪水避難専用モデルが実装済み。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28600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617720" y="2286000"/>
            <a:ext cx="420624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617720" y="2286000"/>
            <a:ext cx="4206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PLATEAU（国交省）  ★★★　3D都市モデル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7249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日本の行政データとの親和性が最高。evacuation-simulation-tools：水害避難シミュレーション（熊本市洪水事例あり）。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37947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2514600" y="3794760"/>
            <a:ext cx="4206240" cy="384048"/>
          </a:xfrm>
          <a:prstGeom prst="rect">
            <a:avLst/>
          </a:prstGeom>
          <a:solidFill>
            <a:srgbClr val="8E7BAF"/>
          </a:solidFill>
          <a:ln w="12700">
            <a:solidFill>
              <a:srgbClr val="8E7B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514600" y="3794760"/>
            <a:ext cx="4206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SynxFlow  ★★☆　災害シミュレーション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422452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Univ. of Exeter開発。Python/CUDAで洪水・土砂流のGPU高速計算。Python/Pandasと統合済みで既存ワークフローに組み込みやすい。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推奨ツール構成案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377440" cy="1188720"/>
          </a:xfrm>
          <a:prstGeom prst="rect">
            <a:avLst/>
          </a:prstGeom>
          <a:solidFill>
            <a:srgbClr val="5B3A8A"/>
          </a:solidFill>
          <a:ln w="12700">
            <a:solidFill>
              <a:srgbClr val="5B3A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災害データ層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05156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SynxFlow / ANUGA → 浸水エリア・到達時刻の生成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PLATEAU CityGML → 3D都市モデル（道路・建物・避難所情報）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194560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28600" y="2194560"/>
            <a:ext cx="237744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28600" y="21945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交通・避難シミュレーション層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3774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MATSim（DRTモジュール）→ デマンド交通の動的配車シミュレーション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GAMA（SiFlo）→ 住民エージェントの避難行動モデル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520440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228600" y="3520440"/>
            <a:ext cx="2377440" cy="118872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28600" y="3520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可視化・GIS層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70332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QGIS → ハザードマップ・リスクスコアの重ね合わせ表示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411480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Re:Earth（PLATEAUプラグイン）→ 3D都市モデル上への可視化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★★★ 優先度最高：MATSim（DRTモジュール）&amp; Project PLATEAU（evacuation-simulation-tools）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320040" y="2194560"/>
            <a:ext cx="292608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 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8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地域別人口データの調査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地域別人口データ ― 主要データソース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8686800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結論：リアルタイムでなくても、区画単位の人口データは十分に公開されており、無償・商用可ライセンスで取得できる。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691640"/>
            <a:ext cx="8686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データソース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91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60520" y="1691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23560" y="169164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29400" y="1691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084832"/>
            <a:ext cx="8686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20040" y="21031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国勢調査 小地域集計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210312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総務省統計局 / e-Stat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210312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町丁・字単位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2103120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5年ごと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210312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年齢別人口収録・CC BY 4.0互換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679192"/>
            <a:ext cx="8686800" cy="548640"/>
          </a:xfrm>
          <a:prstGeom prst="rect">
            <a:avLst/>
          </a:prstGeom>
          <a:solidFill>
            <a:srgbClr val="E0EDF2"/>
          </a:solidFill>
          <a:ln w="12700">
            <a:solidFill>
              <a:srgbClr val="D0E4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20040" y="269748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地域メッシュ統計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69748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e-Stat / 国土数値情報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269748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250m / 500m / 1km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2697480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5年ごと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269748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CSV+Shapefile・商用可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273552"/>
            <a:ext cx="8686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20040" y="329184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R6メッシュ別将来推計人口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329184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国土交通省 国土数値情報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60520" y="329184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250m / 500mメッシュ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3291840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〜2070年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329184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2025年1月公開済み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867912"/>
            <a:ext cx="8686800" cy="548640"/>
          </a:xfrm>
          <a:prstGeom prst="rect">
            <a:avLst/>
          </a:prstGeom>
          <a:solidFill>
            <a:srgbClr val="E0EDF2"/>
          </a:solidFill>
          <a:ln w="12700">
            <a:solidFill>
              <a:srgbClr val="D0E4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320040" y="388620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住民基本台帳（宇都宮市等）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0" y="388620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各自治体オープンデータ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60520" y="388620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町丁別・年齢別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3886200"/>
            <a:ext cx="960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29400" y="388620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対象地域候補として有望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システムへの応用：車両台数・車種の自動判別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651760" cy="9144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浸水エリア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（SynxFlow等）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651760" cy="9144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05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人口・高齢者数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（250mメッシュ）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651760" cy="9144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217920" y="10058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通行可能道路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（ハザードマップ×規制）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0" cy="411480"/>
          </a:xfrm>
          <a:prstGeom prst="line">
            <a:avLst/>
          </a:prstGeom>
          <a:noFill/>
          <a:ln w="254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8686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228600" y="2286000"/>
            <a:ext cx="86868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28600" y="22860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判別ロジック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715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要避難人数 ÷ 車両定員　→　必要台数の算出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08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高齢者・障害者比率　→　福祉車両・大型バスの混成比率の判断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3009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経路ごとの所要時間　→　配車優先順位の決定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3657600"/>
            <a:ext cx="0" cy="27432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22960" y="3977640"/>
            <a:ext cx="7498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22960" y="3977640"/>
            <a:ext cx="749808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OUTPUT：「この地区には○台（うち福祉車両△台）を○時までに手配」を自動提示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D7EA3"/>
          </a:solidFill>
          <a:ln w="12700">
            <a:solidFill>
              <a:srgbClr val="1D7E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53312" y="907267"/>
            <a:ext cx="6237375" cy="3684189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453312" y="907267"/>
            <a:ext cx="6237375" cy="351673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453312" y="907267"/>
            <a:ext cx="6237375" cy="35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今週の調査から見えた研究の方向性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44752" y="1401043"/>
            <a:ext cx="353059" cy="41865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544752" y="1401043"/>
            <a:ext cx="353059" cy="41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8801" y="1419331"/>
            <a:ext cx="5472414" cy="5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デマンド交通×災害情報の組み合わせは先行研究がほぼなく、新規性が高い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44752" y="2059411"/>
            <a:ext cx="353059" cy="41865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544752" y="2059411"/>
            <a:ext cx="353059" cy="41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8801" y="2077699"/>
            <a:ext cx="5472414" cy="5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人口データは250mメッシュで無償取得可能。地方でも静的データで代替できる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44752" y="2717779"/>
            <a:ext cx="353059" cy="41865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544752" y="2717779"/>
            <a:ext cx="353059" cy="41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8801" y="2736067"/>
            <a:ext cx="5472414" cy="5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車両台数・車種の自動判別という具体的なアウトプット像が明確になった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44752" y="3376147"/>
            <a:ext cx="353059" cy="41865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544752" y="3376147"/>
            <a:ext cx="353059" cy="41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8801" y="3394435"/>
            <a:ext cx="5472414" cy="5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MATSim（DRTモジュール）＋ Project PLATEAUで実装環境を構築できる見通し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745</Words>
  <Application>Microsoft Office PowerPoint</Application>
  <PresentationFormat>画面に合わせる (16:9)</PresentationFormat>
  <Paragraphs>225</Paragraphs>
  <Slides>17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Meiryo</vt:lpstr>
      <vt:lpstr>Arial</vt:lpstr>
      <vt:lpstr>Segoe UI Emoji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経過報告 2026/04/01</dc:title>
  <dc:subject>PptxGenJS Presentation</dc:subject>
  <dc:creator>PptxGenJS</dc:creator>
  <cp:lastModifiedBy>古賀 玲次</cp:lastModifiedBy>
  <cp:revision>1</cp:revision>
  <dcterms:created xsi:type="dcterms:W3CDTF">2026-04-08T09:18:17Z</dcterms:created>
  <dcterms:modified xsi:type="dcterms:W3CDTF">2026-04-15T08:11:35Z</dcterms:modified>
</cp:coreProperties>
</file>